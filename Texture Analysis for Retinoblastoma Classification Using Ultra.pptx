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embedTrueTypeFonts="1">
  <p:sldMasterIdLst>
    <p:sldMasterId id="2147483648" r:id="rId1"/>
  </p:sldMasterIdLst>
  <p:notesMasterIdLst>
    <p:notesMasterId r:id="rId23"/>
  </p:notesMasterIdLst>
  <p:sldIdLst>
    <p:sldId id="731" r:id="rId3"/>
    <p:sldId id="634" r:id="rId4"/>
    <p:sldId id="734" r:id="rId5"/>
    <p:sldId id="733" r:id="rId6"/>
    <p:sldId id="777" r:id="rId7"/>
    <p:sldId id="736" r:id="rId8"/>
    <p:sldId id="737" r:id="rId9"/>
    <p:sldId id="775" r:id="rId10"/>
    <p:sldId id="740" r:id="rId11"/>
    <p:sldId id="742" r:id="rId12"/>
    <p:sldId id="741" r:id="rId13"/>
    <p:sldId id="743" r:id="rId14"/>
    <p:sldId id="773" r:id="rId15"/>
    <p:sldId id="744" r:id="rId16"/>
    <p:sldId id="779" r:id="rId17"/>
    <p:sldId id="745" r:id="rId18"/>
    <p:sldId id="781" r:id="rId19"/>
    <p:sldId id="782" r:id="rId20"/>
    <p:sldId id="783" r:id="rId21"/>
    <p:sldId id="738" r:id="rId22"/>
  </p:sldIdLst>
  <p:sldSz cx="12192000" cy="6858000"/>
  <p:notesSz cx="6797675" cy="9926320"/>
  <p:embeddedFontLst/>
  <p:defaultTextStyle>
    <a:defPPr>
      <a:defRPr lang="en-US"/>
    </a:defPPr>
    <a:lvl1pPr marL="0" algn="l" defTabSz="816610" rtl="0" eaLnBrk="1" latinLnBrk="0" hangingPunct="1">
      <a:defRPr sz="1600" kern="1200">
        <a:solidFill>
          <a:schemeClr val="tx1"/>
        </a:solidFill>
        <a:latin typeface="+mn-lt"/>
        <a:ea typeface="+mn-ea"/>
        <a:cs typeface="+mn-cs"/>
      </a:defRPr>
    </a:lvl1pPr>
    <a:lvl2pPr marL="408305" algn="l" defTabSz="816610" rtl="0" eaLnBrk="1" latinLnBrk="0" hangingPunct="1">
      <a:defRPr sz="1600" kern="1200">
        <a:solidFill>
          <a:schemeClr val="tx1"/>
        </a:solidFill>
        <a:latin typeface="+mn-lt"/>
        <a:ea typeface="+mn-ea"/>
        <a:cs typeface="+mn-cs"/>
      </a:defRPr>
    </a:lvl2pPr>
    <a:lvl3pPr marL="816610" algn="l" defTabSz="816610" rtl="0" eaLnBrk="1" latinLnBrk="0" hangingPunct="1">
      <a:defRPr sz="1600" kern="1200">
        <a:solidFill>
          <a:schemeClr val="tx1"/>
        </a:solidFill>
        <a:latin typeface="+mn-lt"/>
        <a:ea typeface="+mn-ea"/>
        <a:cs typeface="+mn-cs"/>
      </a:defRPr>
    </a:lvl3pPr>
    <a:lvl4pPr marL="1224280" algn="l" defTabSz="816610" rtl="0" eaLnBrk="1" latinLnBrk="0" hangingPunct="1">
      <a:defRPr sz="1600" kern="1200">
        <a:solidFill>
          <a:schemeClr val="tx1"/>
        </a:solidFill>
        <a:latin typeface="+mn-lt"/>
        <a:ea typeface="+mn-ea"/>
        <a:cs typeface="+mn-cs"/>
      </a:defRPr>
    </a:lvl4pPr>
    <a:lvl5pPr marL="1632585" algn="l" defTabSz="816610" rtl="0" eaLnBrk="1" latinLnBrk="0" hangingPunct="1">
      <a:defRPr sz="1600" kern="1200">
        <a:solidFill>
          <a:schemeClr val="tx1"/>
        </a:solidFill>
        <a:latin typeface="+mn-lt"/>
        <a:ea typeface="+mn-ea"/>
        <a:cs typeface="+mn-cs"/>
      </a:defRPr>
    </a:lvl5pPr>
    <a:lvl6pPr marL="2040890" algn="l" defTabSz="816610" rtl="0" eaLnBrk="1" latinLnBrk="0" hangingPunct="1">
      <a:defRPr sz="1600" kern="1200">
        <a:solidFill>
          <a:schemeClr val="tx1"/>
        </a:solidFill>
        <a:latin typeface="+mn-lt"/>
        <a:ea typeface="+mn-ea"/>
        <a:cs typeface="+mn-cs"/>
      </a:defRPr>
    </a:lvl6pPr>
    <a:lvl7pPr marL="2449195" algn="l" defTabSz="816610" rtl="0" eaLnBrk="1" latinLnBrk="0" hangingPunct="1">
      <a:defRPr sz="1600" kern="1200">
        <a:solidFill>
          <a:schemeClr val="tx1"/>
        </a:solidFill>
        <a:latin typeface="+mn-lt"/>
        <a:ea typeface="+mn-ea"/>
        <a:cs typeface="+mn-cs"/>
      </a:defRPr>
    </a:lvl7pPr>
    <a:lvl8pPr marL="2857500" algn="l" defTabSz="816610" rtl="0" eaLnBrk="1" latinLnBrk="0" hangingPunct="1">
      <a:defRPr sz="1600" kern="1200">
        <a:solidFill>
          <a:schemeClr val="tx1"/>
        </a:solidFill>
        <a:latin typeface="+mn-lt"/>
        <a:ea typeface="+mn-ea"/>
        <a:cs typeface="+mn-cs"/>
      </a:defRPr>
    </a:lvl8pPr>
    <a:lvl9pPr marL="3265170" algn="l" defTabSz="816610"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06148563" name="ShengYa." initial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CC"/>
    <a:srgbClr val="5E256E"/>
    <a:srgbClr val="336600"/>
    <a:srgbClr val="CC0000"/>
    <a:srgbClr val="81FFBA"/>
    <a:srgbClr val="FF99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94660"/>
  </p:normalViewPr>
  <p:slideViewPr>
    <p:cSldViewPr snapToGrid="0" showGuides="1">
      <p:cViewPr varScale="1">
        <p:scale>
          <a:sx n="156" d="100"/>
          <a:sy n="156" d="100"/>
        </p:scale>
        <p:origin x="384" y="100"/>
      </p:cViewPr>
      <p:guideLst>
        <p:guide orient="horz" pos="2082"/>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606148563" dt="2026-02-24T02:40:15.686" idx="7">
    <p:pos x="10" y="20"/>
    <p:text>If successful, we’ll not only have a model that can distinguish RB from normal retina, but we’ll also understand exactly what image properties—like contrast, homogeneity, or complexity—drive that decision. This interpretability is crucial for clinical trust and for gaining insights into the underlying pathology</p:text>
  </p:cm>
</p:cmLst>
</file>

<file path=ppt/comments/comment2.xml><?xml version="1.0" encoding="utf-8"?>
<p:cmLst xmlns:a="http://schemas.openxmlformats.org/drawingml/2006/main" xmlns:r="http://schemas.openxmlformats.org/officeDocument/2006/relationships" xmlns:p="http://schemas.openxmlformats.org/presentationml/2006/main">
  <p:cm authorId="606148563" dt="2026-02-24T03:06:44.278" idx="8">
    <p:pos x="10" y="10"/>
    <p:text>Notice that the number of images is larger than the number of patients—this is because patients with RB often undergo multiple follow-up visits, and images are taken at different disease stages or treatment time points. So multiple images from the same eye are included, reflecting disease progression or treatment response.
</p:text>
  </p:cm>
</p:cmLst>
</file>

<file path=ppt/comments/comment3.xml><?xml version="1.0" encoding="utf-8"?>
<p:cmLst xmlns:a="http://schemas.openxmlformats.org/drawingml/2006/main" xmlns:r="http://schemas.openxmlformats.org/officeDocument/2006/relationships" xmlns:p="http://schemas.openxmlformats.org/presentationml/2006/main">
  <p:cm authorId="606148563" dt="2026-02-24T00:36:10.193" idx="6">
    <p:pos x="10" y="10"/>
    <p:text>LBP (Local Binary Patterns): It encodes local texture by comparing each pixel with its neighbors, making it robust to illumination changes and widely used in applications like face recognition.
Haralick: It extracts statistical texture features from the gray-level co-occurrence matrix, quantifying properties such as contrast, homogeneity, and correlation.
HOS (Higher Order Spectra): It analyzes non-linear and non-Gaussian signal characteristics, capturing subtle structural details often missed by second-order statistics.
Fractal: It measures self-similarity and complexity across scales, as seen in snowflakes where each branch repeats the same pattern at smaller scales.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4FD3D724-9F00-4546-A682-C03CC0A97CF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D53DBB3A-4885-4652-8440-29A17FF59A7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9886" y="2500216"/>
            <a:ext cx="11199033" cy="1143000"/>
          </a:xfrm>
          <a:prstGeom prst="rect">
            <a:avLst/>
          </a:prstGeom>
        </p:spPr>
        <p:txBody>
          <a:bodyPr lIns="81636" tIns="40818" rIns="81636" bIns="40818"/>
          <a:lstStyle>
            <a:lvl1pPr algn="l">
              <a:defRPr sz="4265" b="1" baseline="0">
                <a:solidFill>
                  <a:schemeClr val="bg1"/>
                </a:solidFill>
                <a:latin typeface="Helvetica" pitchFamily="34" charset="0"/>
                <a:cs typeface="Helvetica" pitchFamily="34" charset="0"/>
              </a:defRPr>
            </a:lvl1pPr>
          </a:lstStyle>
          <a:p>
            <a:r>
              <a:rPr lang="en-US" dirty="0"/>
              <a:t>Title</a:t>
            </a:r>
            <a:endParaRPr lang="en-US" dirty="0"/>
          </a:p>
        </p:txBody>
      </p:sp>
      <p:sp>
        <p:nvSpPr>
          <p:cNvPr id="8" name="Text Placeholder 3"/>
          <p:cNvSpPr>
            <a:spLocks noGrp="1"/>
          </p:cNvSpPr>
          <p:nvPr>
            <p:ph type="body" sz="quarter" idx="12" hasCustomPrompt="1"/>
          </p:nvPr>
        </p:nvSpPr>
        <p:spPr>
          <a:xfrm>
            <a:off x="508000" y="3650410"/>
            <a:ext cx="8229600" cy="398252"/>
          </a:xfrm>
          <a:prstGeom prst="rect">
            <a:avLst/>
          </a:prstGeom>
        </p:spPr>
        <p:txBody>
          <a:bodyPr lIns="81636" tIns="40818" rIns="81636" bIns="40818">
            <a:normAutofit/>
          </a:bodyPr>
          <a:lstStyle>
            <a:lvl1pPr marL="0" indent="0">
              <a:buNone/>
              <a:defRPr sz="2135">
                <a:solidFill>
                  <a:srgbClr val="94C43A"/>
                </a:solidFill>
              </a:defRPr>
            </a:lvl1pPr>
            <a:lvl2pPr marL="544195" indent="0">
              <a:buNone/>
              <a:defRPr/>
            </a:lvl2pPr>
          </a:lstStyle>
          <a:p>
            <a:r>
              <a:rPr lang="en-US" altLang="zh-HK" b="1" dirty="0">
                <a:solidFill>
                  <a:srgbClr val="9CC52D"/>
                </a:solidFill>
                <a:latin typeface="Helvetica"/>
                <a:cs typeface="Helvetica"/>
              </a:rPr>
              <a:t>Professor Name</a:t>
            </a:r>
            <a:endParaRPr lang="en-US" dirty="0"/>
          </a:p>
        </p:txBody>
      </p:sp>
      <p:sp>
        <p:nvSpPr>
          <p:cNvPr id="2" name="Slide Number Placeholder 1"/>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30" name="Title 1"/>
          <p:cNvSpPr>
            <a:spLocks noGrp="1"/>
          </p:cNvSpPr>
          <p:nvPr>
            <p:ph type="title" hasCustomPrompt="1"/>
          </p:nvPr>
        </p:nvSpPr>
        <p:spPr>
          <a:xfrm>
            <a:off x="508000" y="685591"/>
            <a:ext cx="11176000" cy="1147631"/>
          </a:xfrm>
          <a:prstGeom prst="rect">
            <a:avLst/>
          </a:prstGeom>
        </p:spPr>
        <p:txBody>
          <a:bodyPr lIns="81636" tIns="40818" rIns="81636" bIns="40818">
            <a:normAutofit/>
          </a:bodyPr>
          <a:lstStyle>
            <a:lvl1pPr algn="l">
              <a:defRPr sz="4265" b="1">
                <a:solidFill>
                  <a:srgbClr val="5E256E"/>
                </a:solidFill>
                <a:latin typeface="Helvetica" pitchFamily="34" charset="0"/>
                <a:cs typeface="Helvetica" pitchFamily="34" charset="0"/>
              </a:defRPr>
            </a:lvl1pPr>
          </a:lstStyle>
          <a:p>
            <a:r>
              <a:rPr lang="en-US" dirty="0"/>
              <a:t>Headline</a:t>
            </a:r>
            <a:endParaRPr lang="en-US" dirty="0"/>
          </a:p>
        </p:txBody>
      </p:sp>
      <p:sp>
        <p:nvSpPr>
          <p:cNvPr id="31" name="Content Placeholder 5"/>
          <p:cNvSpPr>
            <a:spLocks noGrp="1"/>
          </p:cNvSpPr>
          <p:nvPr>
            <p:ph sz="quarter" idx="12" hasCustomPrompt="1"/>
          </p:nvPr>
        </p:nvSpPr>
        <p:spPr>
          <a:xfrm>
            <a:off x="508000" y="2057401"/>
            <a:ext cx="11176000" cy="4025900"/>
          </a:xfrm>
          <a:prstGeom prst="rect">
            <a:avLst/>
          </a:prstGeom>
        </p:spPr>
        <p:txBody>
          <a:bodyPr lIns="81636" tIns="40818" rIns="81636" bIns="40818">
            <a:normAutofit/>
          </a:bodyPr>
          <a:lstStyle>
            <a:lvl1pPr marL="408305" indent="-408305">
              <a:buFont typeface="Arial" panose="020B0604020202090204" pitchFamily="34" charset="0"/>
              <a:buChar char="•"/>
              <a:defRPr sz="2400" baseline="0">
                <a:solidFill>
                  <a:schemeClr val="tx1">
                    <a:lumMod val="75000"/>
                    <a:lumOff val="25000"/>
                  </a:schemeClr>
                </a:solidFill>
                <a:latin typeface="Helvetica" pitchFamily="34" charset="0"/>
                <a:cs typeface="Helvetica" pitchFamily="34" charset="0"/>
              </a:defRPr>
            </a:lvl1pPr>
            <a:lvl2pPr>
              <a:defRPr sz="2135" baseline="0">
                <a:solidFill>
                  <a:schemeClr val="tx1">
                    <a:lumMod val="75000"/>
                    <a:lumOff val="25000"/>
                  </a:schemeClr>
                </a:solidFill>
              </a:defRPr>
            </a:lvl2pPr>
            <a:lvl3pPr>
              <a:defRPr sz="1865" baseline="0">
                <a:solidFill>
                  <a:schemeClr val="tx1">
                    <a:lumMod val="75000"/>
                    <a:lumOff val="25000"/>
                  </a:schemeClr>
                </a:solidFill>
              </a:defRPr>
            </a:lvl3pPr>
            <a:lvl4pPr>
              <a:defRPr sz="1735" baseline="0">
                <a:solidFill>
                  <a:schemeClr val="tx1">
                    <a:lumMod val="75000"/>
                    <a:lumOff val="25000"/>
                  </a:schemeClr>
                </a:solidFill>
              </a:defRPr>
            </a:lvl4pPr>
            <a:lvl5pPr>
              <a:defRPr sz="1465" baseline="0">
                <a:solidFill>
                  <a:schemeClr val="tx1">
                    <a:lumMod val="75000"/>
                    <a:lumOff val="25000"/>
                  </a:schemeClr>
                </a:solidFill>
              </a:defRPr>
            </a:lvl5pPr>
          </a:lstStyle>
          <a:p>
            <a:pPr lvl="0"/>
            <a:r>
              <a:rPr lang="en-US" dirty="0"/>
              <a:t>Text goes here</a:t>
            </a:r>
            <a:endParaRPr lang="en-US" dirty="0"/>
          </a:p>
          <a:p>
            <a:pPr lvl="1"/>
            <a:r>
              <a:rPr lang="en-US" dirty="0"/>
              <a:t>Second line goes here</a:t>
            </a:r>
            <a:endParaRPr lang="en-US" dirty="0"/>
          </a:p>
          <a:p>
            <a:pPr lvl="2"/>
            <a:r>
              <a:rPr lang="en-US" dirty="0"/>
              <a:t>Third line goes here</a:t>
            </a:r>
            <a:endParaRPr lang="en-US" dirty="0"/>
          </a:p>
          <a:p>
            <a:pPr lvl="3"/>
            <a:r>
              <a:rPr lang="en-US" dirty="0"/>
              <a:t>Forth line goes here</a:t>
            </a:r>
            <a:endParaRPr lang="en-US" dirty="0"/>
          </a:p>
          <a:p>
            <a:pPr lvl="4"/>
            <a:r>
              <a:rPr lang="en-US" dirty="0"/>
              <a:t>Fifth line goes here</a:t>
            </a:r>
            <a:endParaRPr lang="en-US" dirty="0"/>
          </a:p>
        </p:txBody>
      </p:sp>
      <p:grpSp>
        <p:nvGrpSpPr>
          <p:cNvPr id="5" name="Group 4"/>
          <p:cNvGrpSpPr/>
          <p:nvPr/>
        </p:nvGrpSpPr>
        <p:grpSpPr>
          <a:xfrm>
            <a:off x="296405" y="6150687"/>
            <a:ext cx="11895595" cy="704405"/>
            <a:chOff x="603304" y="4619625"/>
            <a:chExt cx="8921696" cy="528304"/>
          </a:xfrm>
        </p:grpSpPr>
        <p:sp>
          <p:nvSpPr>
            <p:cNvPr id="19" name="Rectangle 18"/>
            <p:cNvSpPr/>
            <p:nvPr/>
          </p:nvSpPr>
          <p:spPr>
            <a:xfrm flipH="1" flipV="1">
              <a:off x="839814" y="477538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603304" y="4769579"/>
              <a:ext cx="1789337" cy="314382"/>
            </a:xfrm>
            <a:prstGeom prst="rect">
              <a:avLst/>
            </a:prstGeom>
          </p:spPr>
        </p:pic>
        <p:sp>
          <p:nvSpPr>
            <p:cNvPr id="20" name="Rectangle 19"/>
            <p:cNvSpPr/>
            <p:nvPr/>
          </p:nvSpPr>
          <p:spPr>
            <a:xfrm flipH="1" flipV="1">
              <a:off x="5334000" y="469153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5334000" y="461962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5076825" y="469154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6" name="Slide Number Placeholder 5"/>
          <p:cNvSpPr>
            <a:spLocks noGrp="1"/>
          </p:cNvSpPr>
          <p:nvPr>
            <p:ph type="sldNum" sz="quarter" idx="13"/>
          </p:nvPr>
        </p:nvSpPr>
        <p:spPr/>
        <p:txBody>
          <a:bodyPr/>
          <a:lstStyle>
            <a:lvl1pPr>
              <a:defRPr>
                <a:solidFill>
                  <a:schemeClr val="bg1"/>
                </a:solidFill>
              </a:defRPr>
            </a:lvl1pPr>
          </a:lstStyle>
          <a:p>
            <a:fld id="{EB08E37E-5A7D-4575-BB85-0B57CCBFF9C8}" type="slidenum">
              <a:rPr lang="en-US" smtClean="0"/>
            </a:fld>
            <a:endParaRPr lang="en-US"/>
          </a:p>
        </p:txBody>
      </p:sp>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8" name="Rectangle 7"/>
          <p:cNvSpPr/>
          <p:nvPr/>
        </p:nvSpPr>
        <p:spPr>
          <a:xfrm>
            <a:off x="0" y="0"/>
            <a:ext cx="1221232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10" name="Rectangle 9"/>
          <p:cNvSpPr/>
          <p:nvPr/>
        </p:nvSpPr>
        <p:spPr>
          <a:xfrm>
            <a:off x="6197600" y="1"/>
            <a:ext cx="5994400" cy="496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21" name="Right Triangle 20"/>
          <p:cNvSpPr/>
          <p:nvPr/>
        </p:nvSpPr>
        <p:spPr>
          <a:xfrm flipH="1">
            <a:off x="5486400" y="10087"/>
            <a:ext cx="711200" cy="505695"/>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23" name="Right Triangle 22"/>
          <p:cNvSpPr/>
          <p:nvPr/>
        </p:nvSpPr>
        <p:spPr>
          <a:xfrm flipH="1">
            <a:off x="5486400" y="10087"/>
            <a:ext cx="711200" cy="505695"/>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26" name="Text Placeholder 17"/>
          <p:cNvSpPr>
            <a:spLocks noGrp="1"/>
          </p:cNvSpPr>
          <p:nvPr>
            <p:ph type="body" sz="quarter" idx="10" hasCustomPrompt="1"/>
          </p:nvPr>
        </p:nvSpPr>
        <p:spPr>
          <a:xfrm>
            <a:off x="508000" y="3971925"/>
            <a:ext cx="11176000" cy="838200"/>
          </a:xfrm>
          <a:prstGeom prst="rect">
            <a:avLst/>
          </a:prstGeom>
        </p:spPr>
        <p:txBody>
          <a:bodyPr lIns="81636" tIns="40818" rIns="81636" bIns="40818"/>
          <a:lstStyle>
            <a:lvl1pPr marL="0" indent="0">
              <a:buNone/>
              <a:defRPr sz="2400">
                <a:solidFill>
                  <a:schemeClr val="tx1">
                    <a:lumMod val="75000"/>
                    <a:lumOff val="25000"/>
                  </a:schemeClr>
                </a:solidFill>
                <a:latin typeface="Helvetica" pitchFamily="34" charset="0"/>
                <a:cs typeface="Helvetica" pitchFamily="34" charset="0"/>
              </a:defRPr>
            </a:lvl1pPr>
          </a:lstStyle>
          <a:p>
            <a:pPr lvl="0"/>
            <a:r>
              <a:rPr lang="en-US" dirty="0"/>
              <a:t>Description goes here</a:t>
            </a:r>
            <a:endParaRPr lang="en-US" dirty="0"/>
          </a:p>
        </p:txBody>
      </p:sp>
      <p:sp>
        <p:nvSpPr>
          <p:cNvPr id="29" name="Rectangle 28"/>
          <p:cNvSpPr/>
          <p:nvPr/>
        </p:nvSpPr>
        <p:spPr>
          <a:xfrm>
            <a:off x="-20319" y="2523105"/>
            <a:ext cx="9652000" cy="1363099"/>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30" name="Right Triangle 29"/>
          <p:cNvSpPr/>
          <p:nvPr/>
        </p:nvSpPr>
        <p:spPr>
          <a:xfrm flipH="1">
            <a:off x="7620000" y="2523105"/>
            <a:ext cx="2032000" cy="1363099"/>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31" name="Right Triangle 30"/>
          <p:cNvSpPr/>
          <p:nvPr/>
        </p:nvSpPr>
        <p:spPr>
          <a:xfrm flipH="1">
            <a:off x="7821587" y="2523102"/>
            <a:ext cx="2032000" cy="1353575"/>
          </a:xfrm>
          <a:prstGeom prst="rtTriangle">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32" name="Rectangle 31"/>
          <p:cNvSpPr/>
          <p:nvPr/>
        </p:nvSpPr>
        <p:spPr>
          <a:xfrm>
            <a:off x="9853587" y="2523102"/>
            <a:ext cx="2338413" cy="1353575"/>
          </a:xfrm>
          <a:prstGeom prst="rect">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28" name="Title 1"/>
          <p:cNvSpPr>
            <a:spLocks noGrp="1"/>
          </p:cNvSpPr>
          <p:nvPr>
            <p:ph type="title" hasCustomPrompt="1"/>
          </p:nvPr>
        </p:nvSpPr>
        <p:spPr>
          <a:xfrm>
            <a:off x="508000" y="2514605"/>
            <a:ext cx="11176000" cy="1362075"/>
          </a:xfrm>
          <a:prstGeom prst="rect">
            <a:avLst/>
          </a:prstGeom>
        </p:spPr>
        <p:txBody>
          <a:bodyPr lIns="81636" tIns="40818" rIns="81636" bIns="40818" anchor="ctr">
            <a:normAutofit/>
          </a:bodyPr>
          <a:lstStyle>
            <a:lvl1pPr algn="l">
              <a:defRPr lang="en-US" sz="4265" b="1" kern="1200" baseline="0" dirty="0">
                <a:solidFill>
                  <a:schemeClr val="bg1"/>
                </a:solidFill>
                <a:latin typeface="Helvetica" pitchFamily="34" charset="0"/>
                <a:ea typeface="+mj-ea"/>
                <a:cs typeface="Helvetica" pitchFamily="34" charset="0"/>
              </a:defRPr>
            </a:lvl1pPr>
          </a:lstStyle>
          <a:p>
            <a:r>
              <a:rPr lang="en-US" dirty="0"/>
              <a:t>Section Title</a:t>
            </a:r>
            <a:endParaRPr lang="en-US" dirty="0"/>
          </a:p>
        </p:txBody>
      </p:sp>
      <p:pic>
        <p:nvPicPr>
          <p:cNvPr id="22" name="Picture 21"/>
          <p:cNvPicPr>
            <a:picLocks noChangeAspect="1"/>
          </p:cNvPicPr>
          <p:nvPr/>
        </p:nvPicPr>
        <p:blipFill>
          <a:blip r:embed="rId2" cstate="email"/>
          <a:stretch>
            <a:fillRect/>
          </a:stretch>
        </p:blipFill>
        <p:spPr>
          <a:xfrm>
            <a:off x="5546673" y="218542"/>
            <a:ext cx="3352800" cy="589077"/>
          </a:xfrm>
          <a:prstGeom prst="rect">
            <a:avLst/>
          </a:prstGeom>
        </p:spPr>
      </p:pic>
      <p:sp>
        <p:nvSpPr>
          <p:cNvPr id="14"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tx1">
                    <a:lumMod val="65000"/>
                    <a:lumOff val="35000"/>
                  </a:schemeClr>
                </a:solidFill>
              </a:defRPr>
            </a:lvl1pPr>
          </a:lstStyle>
          <a:p>
            <a:fld id="{EB08E37E-5A7D-4575-BB85-0B57CCBFF9C8}" type="slidenum">
              <a:rPr lang="en-US" smtClean="0"/>
            </a:fld>
            <a:endParaRPr lang="en-US"/>
          </a:p>
        </p:txBody>
      </p:sp>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9326479" y="177800"/>
            <a:ext cx="2315423" cy="6705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3" name="Group 2"/>
          <p:cNvGrpSpPr/>
          <p:nvPr/>
        </p:nvGrpSpPr>
        <p:grpSpPr>
          <a:xfrm>
            <a:off x="296405" y="6150687"/>
            <a:ext cx="11895595" cy="704405"/>
            <a:chOff x="222304" y="4613015"/>
            <a:chExt cx="8921696" cy="528304"/>
          </a:xfrm>
        </p:grpSpPr>
        <p:sp>
          <p:nvSpPr>
            <p:cNvPr id="19" name="Rectangle 18"/>
            <p:cNvSpPr/>
            <p:nvPr/>
          </p:nvSpPr>
          <p:spPr>
            <a:xfrm flipH="1" flipV="1">
              <a:off x="458814" y="476877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222304" y="4746279"/>
              <a:ext cx="1789337" cy="314382"/>
            </a:xfrm>
            <a:prstGeom prst="rect">
              <a:avLst/>
            </a:prstGeom>
          </p:spPr>
        </p:pic>
        <p:sp>
          <p:nvSpPr>
            <p:cNvPr id="20" name="Rectangle 19"/>
            <p:cNvSpPr/>
            <p:nvPr/>
          </p:nvSpPr>
          <p:spPr>
            <a:xfrm flipH="1" flipV="1">
              <a:off x="4953000" y="468492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4953000" y="461301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4695825" y="468493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4" name="Text Placeholder 2"/>
          <p:cNvSpPr>
            <a:spLocks noGrp="1"/>
          </p:cNvSpPr>
          <p:nvPr>
            <p:ph type="body" idx="1" hasCustomPrompt="1"/>
          </p:nvPr>
        </p:nvSpPr>
        <p:spPr>
          <a:xfrm>
            <a:off x="566795" y="2006601"/>
            <a:ext cx="5479512" cy="571499"/>
          </a:xfrm>
          <a:prstGeom prst="rect">
            <a:avLst/>
          </a:prstGeom>
        </p:spPr>
        <p:txBody>
          <a:bodyPr anchor="b">
            <a:noAutofit/>
          </a:bodyPr>
          <a:lstStyle>
            <a:lvl1pPr marL="0" indent="0">
              <a:buNone/>
              <a:defRPr sz="2935" b="1" baseline="0">
                <a:solidFill>
                  <a:srgbClr val="92D050"/>
                </a:solidFill>
                <a:latin typeface="Helvetica" pitchFamily="34" charset="0"/>
                <a:cs typeface="Helvetica" pitchFamily="34" charset="0"/>
              </a:defRPr>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dirty="0"/>
              <a:t>Category 1</a:t>
            </a:r>
            <a:endParaRPr lang="en-US" dirty="0"/>
          </a:p>
        </p:txBody>
      </p:sp>
      <p:sp>
        <p:nvSpPr>
          <p:cNvPr id="35" name="Content Placeholder 3"/>
          <p:cNvSpPr>
            <a:spLocks noGrp="1"/>
          </p:cNvSpPr>
          <p:nvPr>
            <p:ph sz="half" idx="2" hasCustomPrompt="1"/>
          </p:nvPr>
        </p:nvSpPr>
        <p:spPr>
          <a:xfrm>
            <a:off x="566796" y="2593527"/>
            <a:ext cx="5479512" cy="3464373"/>
          </a:xfrm>
          <a:prstGeom prst="rect">
            <a:avLst/>
          </a:prstGeom>
        </p:spPr>
        <p:txBody>
          <a:bodyPr/>
          <a:lstStyle>
            <a:lvl1pPr marL="457200" indent="-457200">
              <a:buClr>
                <a:schemeClr val="tx1">
                  <a:lumMod val="75000"/>
                  <a:lumOff val="25000"/>
                </a:schemeClr>
              </a:buClr>
              <a:buFont typeface="Arial" panose="020B0604020202090204" pitchFamily="34" charset="0"/>
              <a:buChar char="•"/>
              <a:defRPr sz="2400" baseline="0">
                <a:solidFill>
                  <a:schemeClr val="tx1">
                    <a:lumMod val="75000"/>
                    <a:lumOff val="25000"/>
                  </a:schemeClr>
                </a:solidFill>
                <a:latin typeface="Helvetica" pitchFamily="34" charset="0"/>
                <a:cs typeface="Helvetica" pitchFamily="34" charset="0"/>
              </a:defRPr>
            </a:lvl1pPr>
            <a:lvl2pPr>
              <a:defRPr sz="2135" baseline="0">
                <a:solidFill>
                  <a:schemeClr val="tx1">
                    <a:lumMod val="75000"/>
                    <a:lumOff val="25000"/>
                  </a:schemeClr>
                </a:solidFill>
                <a:latin typeface="Helvetica" pitchFamily="34" charset="0"/>
                <a:cs typeface="Helvetica" pitchFamily="34" charset="0"/>
              </a:defRPr>
            </a:lvl2pPr>
            <a:lvl3pPr>
              <a:defRPr sz="1865" baseline="0">
                <a:solidFill>
                  <a:schemeClr val="tx1">
                    <a:lumMod val="75000"/>
                    <a:lumOff val="25000"/>
                  </a:schemeClr>
                </a:solidFill>
                <a:latin typeface="Helvetica" pitchFamily="34" charset="0"/>
                <a:cs typeface="Helvetica" pitchFamily="34" charset="0"/>
              </a:defRPr>
            </a:lvl3pPr>
            <a:lvl4pPr>
              <a:defRPr sz="1600" baseline="0">
                <a:solidFill>
                  <a:schemeClr val="tx1">
                    <a:lumMod val="75000"/>
                    <a:lumOff val="25000"/>
                  </a:schemeClr>
                </a:solidFill>
                <a:latin typeface="Helvetica" pitchFamily="34" charset="0"/>
                <a:cs typeface="Helvetica" pitchFamily="34" charset="0"/>
              </a:defRPr>
            </a:lvl4pPr>
            <a:lvl5pPr>
              <a:defRPr sz="1335" baseline="0">
                <a:solidFill>
                  <a:schemeClr val="tx1">
                    <a:lumMod val="75000"/>
                    <a:lumOff val="25000"/>
                  </a:schemeClr>
                </a:solidFill>
                <a:latin typeface="Helvetica" pitchFamily="34" charset="0"/>
                <a:cs typeface="Helvetica" pitchFamily="34" charset="0"/>
              </a:defRPr>
            </a:lvl5pPr>
            <a:lvl6pPr>
              <a:defRPr sz="2135"/>
            </a:lvl6pPr>
            <a:lvl7pPr>
              <a:defRPr sz="2135"/>
            </a:lvl7pPr>
            <a:lvl8pPr>
              <a:defRPr sz="2135"/>
            </a:lvl8pPr>
            <a:lvl9pPr>
              <a:defRPr sz="2135"/>
            </a:lvl9pPr>
          </a:lstStyle>
          <a:p>
            <a:pPr lvl="0"/>
            <a:r>
              <a:rPr lang="en-US" dirty="0"/>
              <a:t>Text goes here</a:t>
            </a:r>
            <a:endParaRPr lang="en-US" dirty="0"/>
          </a:p>
          <a:p>
            <a:pPr lvl="1"/>
            <a:r>
              <a:rPr lang="en-US" dirty="0"/>
              <a:t>Second level goes here</a:t>
            </a:r>
            <a:endParaRPr lang="en-US" dirty="0"/>
          </a:p>
          <a:p>
            <a:pPr lvl="2"/>
            <a:r>
              <a:rPr lang="en-US" dirty="0"/>
              <a:t>Third level goes here</a:t>
            </a:r>
            <a:endParaRPr lang="en-US" dirty="0"/>
          </a:p>
          <a:p>
            <a:pPr lvl="3"/>
            <a:r>
              <a:rPr lang="en-US" dirty="0"/>
              <a:t>Forth level goes here</a:t>
            </a:r>
            <a:endParaRPr lang="en-US" dirty="0"/>
          </a:p>
          <a:p>
            <a:pPr lvl="4"/>
            <a:r>
              <a:rPr lang="en-US" dirty="0"/>
              <a:t>Fifth level goes here</a:t>
            </a:r>
            <a:endParaRPr lang="en-US" dirty="0"/>
          </a:p>
        </p:txBody>
      </p:sp>
      <p:sp>
        <p:nvSpPr>
          <p:cNvPr id="36" name="Text Placeholder 4"/>
          <p:cNvSpPr>
            <a:spLocks noGrp="1"/>
          </p:cNvSpPr>
          <p:nvPr>
            <p:ph type="body" sz="quarter" idx="3" hasCustomPrompt="1"/>
          </p:nvPr>
        </p:nvSpPr>
        <p:spPr>
          <a:xfrm>
            <a:off x="6573520" y="1993899"/>
            <a:ext cx="5110480" cy="596900"/>
          </a:xfrm>
          <a:prstGeom prst="rect">
            <a:avLst/>
          </a:prstGeom>
        </p:spPr>
        <p:txBody>
          <a:bodyPr anchor="b">
            <a:noAutofit/>
          </a:bodyPr>
          <a:lstStyle>
            <a:lvl1pPr marL="0" indent="0">
              <a:buNone/>
              <a:defRPr sz="2935" b="1">
                <a:solidFill>
                  <a:srgbClr val="92D050"/>
                </a:solidFill>
                <a:latin typeface="Helvetica" pitchFamily="34" charset="0"/>
                <a:cs typeface="Helvetica" pitchFamily="34" charset="0"/>
              </a:defRPr>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dirty="0"/>
              <a:t>Category 2</a:t>
            </a:r>
            <a:endParaRPr lang="en-US" dirty="0"/>
          </a:p>
        </p:txBody>
      </p:sp>
      <p:sp>
        <p:nvSpPr>
          <p:cNvPr id="37" name="Content Placeholder 5"/>
          <p:cNvSpPr>
            <a:spLocks noGrp="1"/>
          </p:cNvSpPr>
          <p:nvPr>
            <p:ph sz="quarter" idx="4" hasCustomPrompt="1"/>
          </p:nvPr>
        </p:nvSpPr>
        <p:spPr>
          <a:xfrm>
            <a:off x="6573520" y="2606227"/>
            <a:ext cx="5110480" cy="3464373"/>
          </a:xfrm>
          <a:prstGeom prst="rect">
            <a:avLst/>
          </a:prstGeom>
        </p:spPr>
        <p:txBody>
          <a:bodyPr/>
          <a:lstStyle>
            <a:lvl1pPr marL="457200" indent="-457200">
              <a:buClr>
                <a:schemeClr val="tx1">
                  <a:lumMod val="75000"/>
                  <a:lumOff val="25000"/>
                </a:schemeClr>
              </a:buClr>
              <a:buFont typeface="Arial" panose="020B0604020202090204" pitchFamily="34" charset="0"/>
              <a:buChar char="•"/>
              <a:defRPr sz="2400" baseline="0">
                <a:solidFill>
                  <a:schemeClr val="tx1">
                    <a:lumMod val="75000"/>
                    <a:lumOff val="25000"/>
                  </a:schemeClr>
                </a:solidFill>
                <a:latin typeface="Helvetica" pitchFamily="34" charset="0"/>
                <a:cs typeface="Helvetica" pitchFamily="34" charset="0"/>
              </a:defRPr>
            </a:lvl1pPr>
            <a:lvl2pPr>
              <a:defRPr sz="2135">
                <a:solidFill>
                  <a:schemeClr val="tx1">
                    <a:lumMod val="75000"/>
                    <a:lumOff val="25000"/>
                  </a:schemeClr>
                </a:solidFill>
                <a:latin typeface="Helvetica" pitchFamily="34" charset="0"/>
                <a:cs typeface="Helvetica" pitchFamily="34" charset="0"/>
              </a:defRPr>
            </a:lvl2pPr>
            <a:lvl3pPr>
              <a:defRPr sz="1865" baseline="0">
                <a:solidFill>
                  <a:schemeClr val="tx1">
                    <a:lumMod val="75000"/>
                    <a:lumOff val="25000"/>
                  </a:schemeClr>
                </a:solidFill>
                <a:latin typeface="Helvetica" pitchFamily="34" charset="0"/>
                <a:cs typeface="Helvetica" pitchFamily="34" charset="0"/>
              </a:defRPr>
            </a:lvl3pPr>
            <a:lvl4pPr>
              <a:defRPr sz="1600" baseline="0">
                <a:solidFill>
                  <a:schemeClr val="tx1">
                    <a:lumMod val="75000"/>
                    <a:lumOff val="25000"/>
                  </a:schemeClr>
                </a:solidFill>
                <a:latin typeface="Helvetica" pitchFamily="34" charset="0"/>
                <a:cs typeface="Helvetica" pitchFamily="34" charset="0"/>
              </a:defRPr>
            </a:lvl4pPr>
            <a:lvl5pPr>
              <a:defRPr sz="1335" baseline="0">
                <a:solidFill>
                  <a:schemeClr val="tx1">
                    <a:lumMod val="75000"/>
                    <a:lumOff val="25000"/>
                  </a:schemeClr>
                </a:solidFill>
                <a:latin typeface="Helvetica" pitchFamily="34" charset="0"/>
                <a:cs typeface="Helvetica" pitchFamily="34" charset="0"/>
              </a:defRPr>
            </a:lvl5pPr>
            <a:lvl6pPr>
              <a:defRPr sz="2135"/>
            </a:lvl6pPr>
            <a:lvl7pPr>
              <a:defRPr sz="2135"/>
            </a:lvl7pPr>
            <a:lvl8pPr>
              <a:defRPr sz="2135"/>
            </a:lvl8pPr>
            <a:lvl9pPr>
              <a:defRPr sz="2135"/>
            </a:lvl9pPr>
          </a:lstStyle>
          <a:p>
            <a:pPr lvl="0"/>
            <a:r>
              <a:rPr lang="en-US" dirty="0"/>
              <a:t>Text goes here</a:t>
            </a:r>
            <a:endParaRPr lang="en-US" dirty="0"/>
          </a:p>
          <a:p>
            <a:pPr lvl="1"/>
            <a:r>
              <a:rPr lang="en-US" dirty="0"/>
              <a:t>Second level goes here</a:t>
            </a:r>
            <a:endParaRPr lang="en-US" dirty="0"/>
          </a:p>
          <a:p>
            <a:pPr lvl="2"/>
            <a:r>
              <a:rPr lang="en-US" dirty="0"/>
              <a:t>Third level goes here</a:t>
            </a:r>
            <a:endParaRPr lang="en-US" dirty="0"/>
          </a:p>
          <a:p>
            <a:pPr lvl="3"/>
            <a:r>
              <a:rPr lang="en-US" dirty="0"/>
              <a:t>Forth level goes here</a:t>
            </a:r>
            <a:endParaRPr lang="en-US" dirty="0"/>
          </a:p>
          <a:p>
            <a:pPr lvl="4"/>
            <a:r>
              <a:rPr lang="en-US" dirty="0"/>
              <a:t>Fifth level goes here</a:t>
            </a:r>
            <a:endParaRPr lang="en-US" dirty="0"/>
          </a:p>
        </p:txBody>
      </p:sp>
      <p:sp>
        <p:nvSpPr>
          <p:cNvPr id="39" name="Title 1"/>
          <p:cNvSpPr>
            <a:spLocks noGrp="1"/>
          </p:cNvSpPr>
          <p:nvPr>
            <p:ph type="title" hasCustomPrompt="1"/>
          </p:nvPr>
        </p:nvSpPr>
        <p:spPr>
          <a:xfrm>
            <a:off x="508000" y="685591"/>
            <a:ext cx="11176000" cy="1147631"/>
          </a:xfrm>
          <a:prstGeom prst="rect">
            <a:avLst/>
          </a:prstGeom>
        </p:spPr>
        <p:txBody>
          <a:bodyPr lIns="81636" tIns="40818" rIns="81636" bIns="40818">
            <a:normAutofit/>
          </a:bodyPr>
          <a:lstStyle>
            <a:lvl1pPr algn="l">
              <a:defRPr sz="4265" b="1">
                <a:solidFill>
                  <a:srgbClr val="5E256E"/>
                </a:solidFill>
                <a:latin typeface="Helvetica" pitchFamily="34" charset="0"/>
                <a:cs typeface="Helvetica" pitchFamily="34" charset="0"/>
              </a:defRPr>
            </a:lvl1pPr>
          </a:lstStyle>
          <a:p>
            <a:r>
              <a:rPr lang="en-US" dirty="0"/>
              <a:t>Headline</a:t>
            </a:r>
            <a:endParaRPr lang="en-US" dirty="0"/>
          </a:p>
        </p:txBody>
      </p:sp>
      <p:sp>
        <p:nvSpPr>
          <p:cNvPr id="2" name="Slide Number Placeholder 1"/>
          <p:cNvSpPr>
            <a:spLocks noGrp="1"/>
          </p:cNvSpPr>
          <p:nvPr>
            <p:ph type="sldNum" sz="quarter" idx="10"/>
          </p:nvPr>
        </p:nvSpPr>
        <p:spPr/>
        <p:txBody>
          <a:bodyPr/>
          <a:lstStyle>
            <a:lvl1pPr>
              <a:defRPr>
                <a:solidFill>
                  <a:schemeClr val="bg1"/>
                </a:solidFill>
              </a:defRPr>
            </a:lvl1pPr>
          </a:lstStyle>
          <a:p>
            <a:fld id="{EB08E37E-5A7D-4575-BB85-0B57CCBFF9C8}" type="slidenum">
              <a:rPr lang="en-US" smtClean="0"/>
            </a:fld>
            <a:endParaRPr lang="en-US"/>
          </a:p>
        </p:txBody>
      </p:sp>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Content">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2" name="Group 1"/>
          <p:cNvGrpSpPr/>
          <p:nvPr/>
        </p:nvGrpSpPr>
        <p:grpSpPr>
          <a:xfrm>
            <a:off x="296405" y="6150687"/>
            <a:ext cx="11895595" cy="704405"/>
            <a:chOff x="222304" y="4613015"/>
            <a:chExt cx="8921696" cy="528304"/>
          </a:xfrm>
        </p:grpSpPr>
        <p:sp>
          <p:nvSpPr>
            <p:cNvPr id="19" name="Rectangle 18"/>
            <p:cNvSpPr/>
            <p:nvPr/>
          </p:nvSpPr>
          <p:spPr>
            <a:xfrm flipH="1" flipV="1">
              <a:off x="458814" y="476877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222304" y="4746279"/>
              <a:ext cx="1789337" cy="314382"/>
            </a:xfrm>
            <a:prstGeom prst="rect">
              <a:avLst/>
            </a:prstGeom>
          </p:spPr>
        </p:pic>
        <p:sp>
          <p:nvSpPr>
            <p:cNvPr id="20" name="Rectangle 19"/>
            <p:cNvSpPr/>
            <p:nvPr/>
          </p:nvSpPr>
          <p:spPr>
            <a:xfrm flipH="1" flipV="1">
              <a:off x="4953000" y="468492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4953000" y="461301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4695825" y="468493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Content Placeholder 6"/>
          <p:cNvSpPr>
            <a:spLocks noGrp="1"/>
          </p:cNvSpPr>
          <p:nvPr>
            <p:ph sz="quarter" idx="10" hasCustomPrompt="1"/>
          </p:nvPr>
        </p:nvSpPr>
        <p:spPr>
          <a:xfrm>
            <a:off x="508001" y="2032002"/>
            <a:ext cx="5078088" cy="4106175"/>
          </a:xfrm>
          <a:prstGeom prst="rect">
            <a:avLst/>
          </a:prstGeom>
        </p:spPr>
        <p:txBody>
          <a:bodyPr lIns="81636" tIns="40818" rIns="81636" bIns="40818"/>
          <a:lstStyle>
            <a:lvl1pPr marL="340360" indent="-340360">
              <a:buClr>
                <a:schemeClr val="tx1">
                  <a:lumMod val="75000"/>
                  <a:lumOff val="25000"/>
                </a:schemeClr>
              </a:buClr>
              <a:buFont typeface="Arial" panose="020B0604020202090204" pitchFamily="34" charset="0"/>
              <a:buChar char="•"/>
              <a:defRPr sz="2400">
                <a:solidFill>
                  <a:schemeClr val="tx1">
                    <a:lumMod val="75000"/>
                    <a:lumOff val="25000"/>
                  </a:schemeClr>
                </a:solidFill>
                <a:latin typeface="Helvetica" pitchFamily="34" charset="0"/>
                <a:cs typeface="Helvetica" pitchFamily="34" charset="0"/>
              </a:defRPr>
            </a:lvl1pPr>
            <a:lvl2pPr>
              <a:defRPr sz="2135">
                <a:solidFill>
                  <a:schemeClr val="tx1">
                    <a:lumMod val="75000"/>
                    <a:lumOff val="25000"/>
                  </a:schemeClr>
                </a:solidFill>
              </a:defRPr>
            </a:lvl2pPr>
            <a:lvl3pPr>
              <a:defRPr sz="1865" baseline="0">
                <a:solidFill>
                  <a:schemeClr val="tx1">
                    <a:lumMod val="75000"/>
                    <a:lumOff val="25000"/>
                  </a:schemeClr>
                </a:solidFill>
              </a:defRPr>
            </a:lvl3pPr>
            <a:lvl4pPr>
              <a:defRPr sz="1735" baseline="0">
                <a:solidFill>
                  <a:schemeClr val="tx1">
                    <a:lumMod val="75000"/>
                    <a:lumOff val="25000"/>
                  </a:schemeClr>
                </a:solidFill>
              </a:defRPr>
            </a:lvl4pPr>
            <a:lvl5pPr>
              <a:defRPr sz="1465" baseline="0">
                <a:solidFill>
                  <a:schemeClr val="tx1">
                    <a:lumMod val="75000"/>
                    <a:lumOff val="25000"/>
                  </a:schemeClr>
                </a:solidFill>
              </a:defRPr>
            </a:lvl5pPr>
          </a:lstStyle>
          <a:p>
            <a:pPr lvl="0"/>
            <a:r>
              <a:rPr lang="en-US" dirty="0"/>
              <a:t>Text goes here</a:t>
            </a:r>
            <a:endParaRPr lang="en-US" dirty="0"/>
          </a:p>
          <a:p>
            <a:pPr lvl="1"/>
            <a:r>
              <a:rPr lang="en-US" dirty="0"/>
              <a:t>Second level goes here</a:t>
            </a:r>
            <a:endParaRPr lang="en-US" dirty="0"/>
          </a:p>
          <a:p>
            <a:pPr lvl="2"/>
            <a:r>
              <a:rPr lang="en-US" dirty="0"/>
              <a:t>Third level goes here</a:t>
            </a:r>
            <a:endParaRPr lang="en-US" dirty="0"/>
          </a:p>
          <a:p>
            <a:pPr lvl="3"/>
            <a:r>
              <a:rPr lang="en-US" dirty="0"/>
              <a:t>Forth level goes here</a:t>
            </a:r>
            <a:endParaRPr lang="en-US" dirty="0"/>
          </a:p>
          <a:p>
            <a:pPr lvl="4"/>
            <a:r>
              <a:rPr lang="en-US" dirty="0"/>
              <a:t>Fifth level goes here</a:t>
            </a:r>
            <a:endParaRPr lang="en-US" dirty="0"/>
          </a:p>
          <a:p>
            <a:pPr lvl="0"/>
            <a:endParaRPr lang="en-US" dirty="0"/>
          </a:p>
        </p:txBody>
      </p:sp>
      <p:sp>
        <p:nvSpPr>
          <p:cNvPr id="13" name="Content Placeholder 6"/>
          <p:cNvSpPr>
            <a:spLocks noGrp="1"/>
          </p:cNvSpPr>
          <p:nvPr>
            <p:ph sz="quarter" idx="11" hasCustomPrompt="1"/>
          </p:nvPr>
        </p:nvSpPr>
        <p:spPr>
          <a:xfrm>
            <a:off x="6573520" y="2032000"/>
            <a:ext cx="5212080" cy="4114800"/>
          </a:xfrm>
          <a:prstGeom prst="rect">
            <a:avLst/>
          </a:prstGeom>
        </p:spPr>
        <p:txBody>
          <a:bodyPr lIns="81636" tIns="40818" rIns="81636" bIns="40818"/>
          <a:lstStyle>
            <a:lvl1pPr marL="408305" indent="-408305">
              <a:buClr>
                <a:schemeClr val="tx1">
                  <a:lumMod val="75000"/>
                  <a:lumOff val="25000"/>
                </a:schemeClr>
              </a:buClr>
              <a:buFont typeface="Arial" panose="020B0604020202090204" pitchFamily="34" charset="0"/>
              <a:buChar char="•"/>
              <a:defRPr sz="2400">
                <a:solidFill>
                  <a:schemeClr val="tx1">
                    <a:lumMod val="75000"/>
                    <a:lumOff val="25000"/>
                  </a:schemeClr>
                </a:solidFill>
                <a:latin typeface="Helvetica" pitchFamily="34" charset="0"/>
                <a:cs typeface="Helvetica" pitchFamily="34" charset="0"/>
              </a:defRPr>
            </a:lvl1pPr>
            <a:lvl2pPr>
              <a:defRPr sz="2135">
                <a:solidFill>
                  <a:schemeClr val="tx1">
                    <a:lumMod val="75000"/>
                    <a:lumOff val="25000"/>
                  </a:schemeClr>
                </a:solidFill>
                <a:latin typeface="Helvetica" pitchFamily="34" charset="0"/>
                <a:cs typeface="Helvetica" pitchFamily="34" charset="0"/>
              </a:defRPr>
            </a:lvl2pPr>
            <a:lvl3pPr>
              <a:defRPr sz="1865">
                <a:solidFill>
                  <a:schemeClr val="tx1">
                    <a:lumMod val="75000"/>
                    <a:lumOff val="25000"/>
                  </a:schemeClr>
                </a:solidFill>
                <a:latin typeface="Helvetica" pitchFamily="34" charset="0"/>
                <a:cs typeface="Helvetica" pitchFamily="34" charset="0"/>
              </a:defRPr>
            </a:lvl3pPr>
            <a:lvl4pPr>
              <a:defRPr sz="1735" baseline="0">
                <a:solidFill>
                  <a:schemeClr val="tx1">
                    <a:lumMod val="75000"/>
                    <a:lumOff val="25000"/>
                  </a:schemeClr>
                </a:solidFill>
                <a:latin typeface="Helvetica" pitchFamily="34" charset="0"/>
                <a:cs typeface="Helvetica" pitchFamily="34" charset="0"/>
              </a:defRPr>
            </a:lvl4pPr>
            <a:lvl5pPr>
              <a:defRPr sz="1465" baseline="0">
                <a:solidFill>
                  <a:schemeClr val="tx1">
                    <a:lumMod val="75000"/>
                    <a:lumOff val="25000"/>
                  </a:schemeClr>
                </a:solidFill>
                <a:latin typeface="Helvetica" pitchFamily="34" charset="0"/>
                <a:cs typeface="Helvetica" pitchFamily="34" charset="0"/>
              </a:defRPr>
            </a:lvl5pPr>
          </a:lstStyle>
          <a:p>
            <a:pPr lvl="0"/>
            <a:r>
              <a:rPr lang="en-US" dirty="0"/>
              <a:t>Text goes here</a:t>
            </a:r>
            <a:endParaRPr lang="en-US" dirty="0"/>
          </a:p>
          <a:p>
            <a:pPr lvl="1"/>
            <a:r>
              <a:rPr lang="en-US" dirty="0"/>
              <a:t>Second level goes here</a:t>
            </a:r>
            <a:endParaRPr lang="en-US" dirty="0"/>
          </a:p>
          <a:p>
            <a:pPr lvl="2"/>
            <a:r>
              <a:rPr lang="en-US" dirty="0"/>
              <a:t>Third level goes here</a:t>
            </a:r>
            <a:endParaRPr lang="en-US" dirty="0"/>
          </a:p>
          <a:p>
            <a:pPr lvl="3"/>
            <a:r>
              <a:rPr lang="en-US" dirty="0"/>
              <a:t>Forth level goes here</a:t>
            </a:r>
            <a:endParaRPr lang="en-US" dirty="0"/>
          </a:p>
          <a:p>
            <a:pPr lvl="4"/>
            <a:r>
              <a:rPr lang="en-US" dirty="0"/>
              <a:t>Fifth level goes here</a:t>
            </a:r>
            <a:endParaRPr lang="en-US" dirty="0"/>
          </a:p>
          <a:p>
            <a:pPr lvl="0"/>
            <a:endParaRPr lang="en-US" dirty="0"/>
          </a:p>
        </p:txBody>
      </p:sp>
      <p:sp>
        <p:nvSpPr>
          <p:cNvPr id="14" name="Title 1"/>
          <p:cNvSpPr>
            <a:spLocks noGrp="1"/>
          </p:cNvSpPr>
          <p:nvPr>
            <p:ph type="title" hasCustomPrompt="1"/>
          </p:nvPr>
        </p:nvSpPr>
        <p:spPr>
          <a:xfrm>
            <a:off x="508000" y="685591"/>
            <a:ext cx="11277600" cy="1147631"/>
          </a:xfrm>
          <a:prstGeom prst="rect">
            <a:avLst/>
          </a:prstGeom>
        </p:spPr>
        <p:txBody>
          <a:bodyPr lIns="81636" tIns="40818" rIns="81636" bIns="40818">
            <a:normAutofit/>
          </a:bodyPr>
          <a:lstStyle>
            <a:lvl1pPr algn="l">
              <a:defRPr sz="4265" b="1">
                <a:solidFill>
                  <a:srgbClr val="5E256E"/>
                </a:solidFill>
                <a:latin typeface="Helvetica" pitchFamily="34" charset="0"/>
                <a:cs typeface="Helvetica" pitchFamily="34" charset="0"/>
              </a:defRPr>
            </a:lvl1pPr>
          </a:lstStyle>
          <a:p>
            <a:r>
              <a:rPr lang="en-US" dirty="0"/>
              <a:t>Headline</a:t>
            </a:r>
            <a:endParaRPr lang="en-US" dirty="0"/>
          </a:p>
        </p:txBody>
      </p:sp>
      <p:sp>
        <p:nvSpPr>
          <p:cNvPr id="16"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bg1"/>
                </a:solidFill>
              </a:defRPr>
            </a:lvl1pPr>
          </a:lstStyle>
          <a:p>
            <a:fld id="{EB08E37E-5A7D-4575-BB85-0B57CCBFF9C8}" type="slidenum">
              <a:rPr lang="en-US" smtClean="0"/>
            </a:fld>
            <a:endParaRPr lang="en-US"/>
          </a:p>
        </p:txBody>
      </p:sp>
      <p:pic>
        <p:nvPicPr>
          <p:cNvPr id="17" name="Picture 16"/>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knowledgement">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2" name="Group 1"/>
          <p:cNvGrpSpPr/>
          <p:nvPr/>
        </p:nvGrpSpPr>
        <p:grpSpPr>
          <a:xfrm>
            <a:off x="296405" y="6150687"/>
            <a:ext cx="11895595" cy="704405"/>
            <a:chOff x="222304" y="4613015"/>
            <a:chExt cx="8921696" cy="528304"/>
          </a:xfrm>
        </p:grpSpPr>
        <p:sp>
          <p:nvSpPr>
            <p:cNvPr id="19" name="Rectangle 18"/>
            <p:cNvSpPr/>
            <p:nvPr/>
          </p:nvSpPr>
          <p:spPr>
            <a:xfrm flipH="1" flipV="1">
              <a:off x="458814" y="476877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222304" y="4746279"/>
              <a:ext cx="1789337" cy="314382"/>
            </a:xfrm>
            <a:prstGeom prst="rect">
              <a:avLst/>
            </a:prstGeom>
          </p:spPr>
        </p:pic>
        <p:sp>
          <p:nvSpPr>
            <p:cNvPr id="20" name="Rectangle 19"/>
            <p:cNvSpPr/>
            <p:nvPr/>
          </p:nvSpPr>
          <p:spPr>
            <a:xfrm flipH="1" flipV="1">
              <a:off x="4953000" y="468492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4953000" y="461301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4695825" y="468493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7" name="Title 1"/>
          <p:cNvSpPr>
            <a:spLocks noGrp="1"/>
          </p:cNvSpPr>
          <p:nvPr>
            <p:ph type="title" hasCustomPrompt="1"/>
          </p:nvPr>
        </p:nvSpPr>
        <p:spPr>
          <a:xfrm>
            <a:off x="508000" y="685591"/>
            <a:ext cx="11277600" cy="1147631"/>
          </a:xfrm>
          <a:prstGeom prst="rect">
            <a:avLst/>
          </a:prstGeom>
        </p:spPr>
        <p:txBody>
          <a:bodyPr lIns="81636" tIns="40818" rIns="81636" bIns="40818">
            <a:normAutofit/>
          </a:bodyPr>
          <a:lstStyle>
            <a:lvl1pPr algn="l">
              <a:defRPr sz="4265" b="1">
                <a:solidFill>
                  <a:srgbClr val="5E256E"/>
                </a:solidFill>
                <a:latin typeface="Helvetica" pitchFamily="34" charset="0"/>
                <a:cs typeface="Helvetica" pitchFamily="34" charset="0"/>
              </a:defRPr>
            </a:lvl1pPr>
          </a:lstStyle>
          <a:p>
            <a:r>
              <a:rPr lang="en-US" dirty="0"/>
              <a:t>Acknowledgement</a:t>
            </a:r>
            <a:endParaRPr lang="en-US" dirty="0"/>
          </a:p>
        </p:txBody>
      </p:sp>
      <p:sp>
        <p:nvSpPr>
          <p:cNvPr id="22" name="Text Placeholder 4"/>
          <p:cNvSpPr>
            <a:spLocks noGrp="1"/>
          </p:cNvSpPr>
          <p:nvPr>
            <p:ph type="body" sz="quarter" idx="10" hasCustomPrompt="1"/>
          </p:nvPr>
        </p:nvSpPr>
        <p:spPr>
          <a:xfrm>
            <a:off x="508001" y="2120899"/>
            <a:ext cx="5582249" cy="3746500"/>
          </a:xfrm>
          <a:prstGeom prst="rect">
            <a:avLst/>
          </a:prstGeom>
        </p:spPr>
        <p:txBody>
          <a:bodyPr/>
          <a:lstStyle>
            <a:lvl1pPr>
              <a:defRPr lang="en-US" sz="2400" kern="1200" baseline="0" dirty="0">
                <a:solidFill>
                  <a:schemeClr val="tx1">
                    <a:lumMod val="75000"/>
                    <a:lumOff val="25000"/>
                  </a:schemeClr>
                </a:solidFill>
                <a:latin typeface="Helvetica" pitchFamily="34" charset="0"/>
                <a:ea typeface="+mn-ea"/>
                <a:cs typeface="Helvetica" pitchFamily="34" charset="0"/>
              </a:defRPr>
            </a:lvl1pPr>
          </a:lstStyle>
          <a:p>
            <a:r>
              <a:rPr lang="en-US" dirty="0"/>
              <a:t>Name goes here</a:t>
            </a:r>
            <a:endParaRPr lang="en-US" dirty="0"/>
          </a:p>
        </p:txBody>
      </p:sp>
      <p:sp>
        <p:nvSpPr>
          <p:cNvPr id="27" name="Text Placeholder 5"/>
          <p:cNvSpPr>
            <a:spLocks noGrp="1"/>
          </p:cNvSpPr>
          <p:nvPr>
            <p:ph type="body" sz="quarter" idx="11" hasCustomPrompt="1"/>
          </p:nvPr>
        </p:nvSpPr>
        <p:spPr>
          <a:xfrm>
            <a:off x="6261101" y="2120900"/>
            <a:ext cx="5524500" cy="3746499"/>
          </a:xfrm>
          <a:prstGeom prst="rect">
            <a:avLst/>
          </a:prstGeom>
        </p:spPr>
        <p:txBody>
          <a:bodyPr/>
          <a:lstStyle>
            <a:lvl1pPr>
              <a:defRPr lang="en-US" sz="2400" kern="1200" baseline="0" dirty="0">
                <a:solidFill>
                  <a:schemeClr val="tx1">
                    <a:lumMod val="75000"/>
                    <a:lumOff val="25000"/>
                  </a:schemeClr>
                </a:solidFill>
                <a:latin typeface="Helvetica" pitchFamily="34" charset="0"/>
                <a:ea typeface="+mn-ea"/>
                <a:cs typeface="Helvetica" pitchFamily="34" charset="0"/>
              </a:defRPr>
            </a:lvl1pPr>
          </a:lstStyle>
          <a:p>
            <a:r>
              <a:rPr lang="en-US" dirty="0"/>
              <a:t>Organization goes here</a:t>
            </a:r>
            <a:endParaRPr lang="en-US" dirty="0"/>
          </a:p>
        </p:txBody>
      </p:sp>
      <p:sp>
        <p:nvSpPr>
          <p:cNvPr id="14"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bg1"/>
                </a:solidFill>
              </a:defRPr>
            </a:lvl1pPr>
          </a:lstStyle>
          <a:p>
            <a:fld id="{EB08E37E-5A7D-4575-BB85-0B57CCBFF9C8}" type="slidenum">
              <a:rPr lang="en-US" smtClean="0"/>
            </a:fld>
            <a:endParaRPr lang="en-US"/>
          </a:p>
        </p:txBody>
      </p:sp>
      <p:pic>
        <p:nvPicPr>
          <p:cNvPr id="15" name="Picture 14"/>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sclosure">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2" name="Group 1"/>
          <p:cNvGrpSpPr/>
          <p:nvPr/>
        </p:nvGrpSpPr>
        <p:grpSpPr>
          <a:xfrm>
            <a:off x="296405" y="6150687"/>
            <a:ext cx="11895595" cy="704405"/>
            <a:chOff x="222304" y="4613015"/>
            <a:chExt cx="8921696" cy="528304"/>
          </a:xfrm>
        </p:grpSpPr>
        <p:sp>
          <p:nvSpPr>
            <p:cNvPr id="19" name="Rectangle 18"/>
            <p:cNvSpPr/>
            <p:nvPr/>
          </p:nvSpPr>
          <p:spPr>
            <a:xfrm flipH="1" flipV="1">
              <a:off x="458814" y="476877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222304" y="4746279"/>
              <a:ext cx="1789337" cy="314382"/>
            </a:xfrm>
            <a:prstGeom prst="rect">
              <a:avLst/>
            </a:prstGeom>
          </p:spPr>
        </p:pic>
        <p:sp>
          <p:nvSpPr>
            <p:cNvPr id="20" name="Rectangle 19"/>
            <p:cNvSpPr/>
            <p:nvPr/>
          </p:nvSpPr>
          <p:spPr>
            <a:xfrm flipH="1" flipV="1">
              <a:off x="4953000" y="468492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4953000" y="461301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4695825" y="468493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7" name="Title 1"/>
          <p:cNvSpPr>
            <a:spLocks noGrp="1"/>
          </p:cNvSpPr>
          <p:nvPr>
            <p:ph type="title" hasCustomPrompt="1"/>
          </p:nvPr>
        </p:nvSpPr>
        <p:spPr>
          <a:xfrm>
            <a:off x="508000" y="685591"/>
            <a:ext cx="11277600" cy="1147631"/>
          </a:xfrm>
          <a:prstGeom prst="rect">
            <a:avLst/>
          </a:prstGeom>
        </p:spPr>
        <p:txBody>
          <a:bodyPr lIns="81636" tIns="40818" rIns="81636" bIns="40818">
            <a:normAutofit/>
          </a:bodyPr>
          <a:lstStyle>
            <a:lvl1pPr algn="l">
              <a:defRPr sz="4265" b="1">
                <a:solidFill>
                  <a:srgbClr val="5E256E"/>
                </a:solidFill>
                <a:latin typeface="Helvetica" pitchFamily="34" charset="0"/>
                <a:cs typeface="Helvetica" pitchFamily="34" charset="0"/>
              </a:defRPr>
            </a:lvl1pPr>
          </a:lstStyle>
          <a:p>
            <a:r>
              <a:rPr lang="en-US" dirty="0"/>
              <a:t>Disclosure</a:t>
            </a:r>
            <a:endParaRPr lang="en-US" dirty="0"/>
          </a:p>
        </p:txBody>
      </p:sp>
      <p:sp>
        <p:nvSpPr>
          <p:cNvPr id="22" name="Text Placeholder 4"/>
          <p:cNvSpPr>
            <a:spLocks noGrp="1"/>
          </p:cNvSpPr>
          <p:nvPr>
            <p:ph type="body" sz="quarter" idx="10" hasCustomPrompt="1"/>
          </p:nvPr>
        </p:nvSpPr>
        <p:spPr>
          <a:xfrm>
            <a:off x="508000" y="2120899"/>
            <a:ext cx="11277600" cy="3746500"/>
          </a:xfrm>
          <a:prstGeom prst="rect">
            <a:avLst/>
          </a:prstGeom>
        </p:spPr>
        <p:txBody>
          <a:bodyPr/>
          <a:lstStyle>
            <a:lvl1pPr>
              <a:defRPr lang="en-US" sz="2400" kern="1200" baseline="0" dirty="0">
                <a:solidFill>
                  <a:schemeClr val="tx1">
                    <a:lumMod val="75000"/>
                    <a:lumOff val="25000"/>
                  </a:schemeClr>
                </a:solidFill>
                <a:latin typeface="Helvetica" pitchFamily="34" charset="0"/>
                <a:ea typeface="+mn-ea"/>
                <a:cs typeface="Helvetica" pitchFamily="34" charset="0"/>
              </a:defRPr>
            </a:lvl1pPr>
          </a:lstStyle>
          <a:p>
            <a:r>
              <a:rPr lang="en-US" dirty="0"/>
              <a:t>Text goes here</a:t>
            </a:r>
            <a:endParaRPr lang="en-US" dirty="0"/>
          </a:p>
        </p:txBody>
      </p:sp>
      <p:sp>
        <p:nvSpPr>
          <p:cNvPr id="13"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bg1"/>
                </a:solidFill>
              </a:defRPr>
            </a:lvl1pPr>
          </a:lstStyle>
          <a:p>
            <a:fld id="{EB08E37E-5A7D-4575-BB85-0B57CCBFF9C8}" type="slidenum">
              <a:rPr lang="en-US" smtClean="0"/>
            </a:fld>
            <a:endParaRPr lang="en-US"/>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18" name="Rectangle 17"/>
          <p:cNvSpPr/>
          <p:nvPr/>
        </p:nvSpPr>
        <p:spPr>
          <a:xfrm>
            <a:off x="-11501" y="0"/>
            <a:ext cx="122035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2" name="Group 1"/>
          <p:cNvGrpSpPr/>
          <p:nvPr/>
        </p:nvGrpSpPr>
        <p:grpSpPr>
          <a:xfrm>
            <a:off x="296405" y="6150687"/>
            <a:ext cx="11895595" cy="704405"/>
            <a:chOff x="222304" y="4613015"/>
            <a:chExt cx="8921696" cy="528304"/>
          </a:xfrm>
        </p:grpSpPr>
        <p:sp>
          <p:nvSpPr>
            <p:cNvPr id="19" name="Rectangle 18"/>
            <p:cNvSpPr/>
            <p:nvPr/>
          </p:nvSpPr>
          <p:spPr>
            <a:xfrm flipH="1" flipV="1">
              <a:off x="458814" y="4768771"/>
              <a:ext cx="4495800" cy="372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p:cNvPicPr>
              <a:picLocks noChangeAspect="1"/>
            </p:cNvPicPr>
            <p:nvPr/>
          </p:nvPicPr>
          <p:blipFill>
            <a:blip r:embed="rId2" cstate="email"/>
            <a:stretch>
              <a:fillRect/>
            </a:stretch>
          </p:blipFill>
          <p:spPr>
            <a:xfrm>
              <a:off x="222304" y="4746279"/>
              <a:ext cx="1789337" cy="314382"/>
            </a:xfrm>
            <a:prstGeom prst="rect">
              <a:avLst/>
            </a:prstGeom>
          </p:spPr>
        </p:pic>
        <p:sp>
          <p:nvSpPr>
            <p:cNvPr id="20" name="Rectangle 19"/>
            <p:cNvSpPr/>
            <p:nvPr/>
          </p:nvSpPr>
          <p:spPr>
            <a:xfrm flipH="1" flipV="1">
              <a:off x="4953000" y="4684929"/>
              <a:ext cx="4191000" cy="448823"/>
            </a:xfrm>
            <a:prstGeom prst="rect">
              <a:avLst/>
            </a:prstGeom>
            <a:solidFill>
              <a:srgbClr val="61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ight Triangle 20"/>
            <p:cNvSpPr/>
            <p:nvPr/>
          </p:nvSpPr>
          <p:spPr>
            <a:xfrm flipV="1">
              <a:off x="4953000" y="4613015"/>
              <a:ext cx="533400" cy="501130"/>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Parallelogram 22"/>
            <p:cNvSpPr/>
            <p:nvPr/>
          </p:nvSpPr>
          <p:spPr>
            <a:xfrm flipH="1" flipV="1">
              <a:off x="4695825" y="4684933"/>
              <a:ext cx="676275" cy="451143"/>
            </a:xfrm>
            <a:prstGeom prst="parallelogram">
              <a:avLst>
                <a:gd name="adj" fmla="val 106761"/>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1"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bg1"/>
                </a:solidFill>
              </a:defRPr>
            </a:lvl1pPr>
          </a:lstStyle>
          <a:p>
            <a:fld id="{EB08E37E-5A7D-4575-BB85-0B57CCBFF9C8}" type="slidenum">
              <a:rPr lang="en-US" smtClean="0"/>
            </a:fld>
            <a:endParaRPr lang="en-US"/>
          </a:p>
        </p:txBody>
      </p:sp>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t="8102" b="5412"/>
          <a:stretch>
            <a:fillRect/>
          </a:stretch>
        </p:blipFill>
        <p:spPr>
          <a:xfrm>
            <a:off x="3149600" y="6294120"/>
            <a:ext cx="1683944" cy="4876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showMasterSp="0">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8E37E-5A7D-4575-BB85-0B57CCBFF9C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showMasterSp="0">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B08E37E-5A7D-4575-BB85-0B57CCBFF9C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8E37E-5A7D-4575-BB85-0B57CCBFF9C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5.png"/><Relationship Id="rId13" Type="http://schemas.openxmlformats.org/officeDocument/2006/relationships/image" Target="../media/image1.GIF"/><Relationship Id="rId12" Type="http://schemas.openxmlformats.org/officeDocument/2006/relationships/image" Target="../media/image4.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p:nvPr/>
        </p:nvSpPr>
        <p:spPr>
          <a:xfrm>
            <a:off x="-7925" y="6520190"/>
            <a:ext cx="9245600" cy="315032"/>
          </a:xfrm>
          <a:prstGeom prst="rect">
            <a:avLst/>
          </a:prstGeom>
        </p:spPr>
        <p:txBody>
          <a:bodyPr wrap="square" lIns="108848" tIns="54424" rIns="108848" bIns="54424">
            <a:spAutoFit/>
          </a:bodyPr>
          <a:lstStyle/>
          <a:p>
            <a:r>
              <a:rPr lang="en-US" sz="1335" b="0" i="0" kern="1200" dirty="0">
                <a:solidFill>
                  <a:schemeClr val="tx1">
                    <a:lumMod val="65000"/>
                    <a:lumOff val="35000"/>
                  </a:schemeClr>
                </a:solidFill>
                <a:effectLst/>
                <a:latin typeface="+mn-lt"/>
                <a:ea typeface="+mn-ea"/>
                <a:cs typeface="+mn-cs"/>
              </a:rPr>
              <a:t>Copyright © 20</a:t>
            </a:r>
            <a:r>
              <a:rPr lang="en-US" altLang="zh-TW" sz="1335" b="0" i="0" kern="1200" dirty="0">
                <a:solidFill>
                  <a:schemeClr val="tx1">
                    <a:lumMod val="65000"/>
                    <a:lumOff val="35000"/>
                  </a:schemeClr>
                </a:solidFill>
                <a:effectLst/>
                <a:latin typeface="+mn-lt"/>
                <a:ea typeface="+mn-ea"/>
                <a:cs typeface="+mn-cs"/>
              </a:rPr>
              <a:t>20</a:t>
            </a:r>
            <a:r>
              <a:rPr lang="en-US" sz="1335" b="0" i="0" kern="1200" dirty="0">
                <a:solidFill>
                  <a:schemeClr val="tx1">
                    <a:lumMod val="65000"/>
                    <a:lumOff val="35000"/>
                  </a:schemeClr>
                </a:solidFill>
                <a:effectLst/>
                <a:latin typeface="+mn-lt"/>
                <a:ea typeface="+mn-ea"/>
                <a:cs typeface="+mn-cs"/>
              </a:rPr>
              <a:t>. All Rights Reserved. Faculty of Medicine, The Chinese University of Hong Kong</a:t>
            </a:r>
            <a:endParaRPr lang="en-US" sz="1335" dirty="0">
              <a:solidFill>
                <a:schemeClr val="tx1">
                  <a:lumMod val="65000"/>
                  <a:lumOff val="35000"/>
                </a:schemeClr>
              </a:solidFill>
            </a:endParaRPr>
          </a:p>
        </p:txBody>
      </p:sp>
      <p:pic>
        <p:nvPicPr>
          <p:cNvPr id="21" name="Picture 2" descr="C:\Users\Mandy\Documents\PPT Template\Template background (4).jpg"/>
          <p:cNvPicPr>
            <a:picLocks noChangeAspect="1" noChangeArrowheads="1"/>
          </p:cNvPicPr>
          <p:nvPr/>
        </p:nvPicPr>
        <p:blipFill rotWithShape="1">
          <a:blip r:embed="rId12" cstate="screen"/>
          <a:srcRect/>
          <a:stretch>
            <a:fillRect/>
          </a:stretch>
        </p:blipFill>
        <p:spPr bwMode="auto">
          <a:xfrm>
            <a:off x="-17221" y="1592553"/>
            <a:ext cx="121920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2" name="Snip Diagonal Corner Rectangle 21"/>
          <p:cNvSpPr/>
          <p:nvPr/>
        </p:nvSpPr>
        <p:spPr>
          <a:xfrm>
            <a:off x="6096000" y="1372077"/>
            <a:ext cx="6096000" cy="457200"/>
          </a:xfrm>
          <a:prstGeom prst="snip2DiagRect">
            <a:avLst>
              <a:gd name="adj1" fmla="val 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sp>
        <p:nvSpPr>
          <p:cNvPr id="23" name="Snip Diagonal Corner Rectangle 22"/>
          <p:cNvSpPr/>
          <p:nvPr/>
        </p:nvSpPr>
        <p:spPr>
          <a:xfrm flipH="1">
            <a:off x="6096000" y="5029677"/>
            <a:ext cx="6096000" cy="457200"/>
          </a:xfrm>
          <a:prstGeom prst="snip2DiagRect">
            <a:avLst>
              <a:gd name="adj1" fmla="val 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848" tIns="54424" rIns="108848" bIns="54424" rtlCol="0" anchor="ctr"/>
          <a:lstStyle/>
          <a:p>
            <a:pPr algn="ctr"/>
            <a:endParaRPr lang="en-US" sz="2400"/>
          </a:p>
        </p:txBody>
      </p:sp>
      <p:grpSp>
        <p:nvGrpSpPr>
          <p:cNvPr id="24" name="Group 23"/>
          <p:cNvGrpSpPr/>
          <p:nvPr/>
        </p:nvGrpSpPr>
        <p:grpSpPr>
          <a:xfrm>
            <a:off x="6200907" y="1600684"/>
            <a:ext cx="5991100" cy="182881"/>
            <a:chOff x="4650675" y="1600676"/>
            <a:chExt cx="4493325" cy="182881"/>
          </a:xfrm>
        </p:grpSpPr>
        <p:sp>
          <p:nvSpPr>
            <p:cNvPr id="25" name="Right Triangle 24"/>
            <p:cNvSpPr/>
            <p:nvPr/>
          </p:nvSpPr>
          <p:spPr>
            <a:xfrm flipH="1" flipV="1">
              <a:off x="4650675" y="1600676"/>
              <a:ext cx="168973" cy="182879"/>
            </a:xfrm>
            <a:prstGeom prst="rtTriangle">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Rectangle 25"/>
            <p:cNvSpPr/>
            <p:nvPr/>
          </p:nvSpPr>
          <p:spPr>
            <a:xfrm>
              <a:off x="4817374" y="1600677"/>
              <a:ext cx="4326626" cy="182880"/>
            </a:xfrm>
            <a:prstGeom prst="rect">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27" name="Group 26"/>
          <p:cNvGrpSpPr/>
          <p:nvPr/>
        </p:nvGrpSpPr>
        <p:grpSpPr>
          <a:xfrm flipV="1">
            <a:off x="6200901" y="5071904"/>
            <a:ext cx="5991099" cy="182880"/>
            <a:chOff x="4650676" y="1600677"/>
            <a:chExt cx="4493324" cy="182880"/>
          </a:xfrm>
        </p:grpSpPr>
        <p:sp>
          <p:nvSpPr>
            <p:cNvPr id="28" name="Right Triangle 27"/>
            <p:cNvSpPr/>
            <p:nvPr/>
          </p:nvSpPr>
          <p:spPr>
            <a:xfrm flipH="1" flipV="1">
              <a:off x="4650676" y="1600677"/>
              <a:ext cx="168973" cy="182879"/>
            </a:xfrm>
            <a:prstGeom prst="rtTriangle">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Rectangle 28"/>
            <p:cNvSpPr/>
            <p:nvPr/>
          </p:nvSpPr>
          <p:spPr>
            <a:xfrm>
              <a:off x="4817374" y="1600677"/>
              <a:ext cx="4326626" cy="182880"/>
            </a:xfrm>
            <a:prstGeom prst="rect">
              <a:avLst/>
            </a:prstGeom>
            <a:solidFill>
              <a:srgbClr val="94C4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7" name="Picture 6"/>
          <p:cNvPicPr>
            <a:picLocks noChangeAspect="1"/>
          </p:cNvPicPr>
          <p:nvPr/>
        </p:nvPicPr>
        <p:blipFill>
          <a:blip r:embed="rId13" cstate="email"/>
          <a:stretch>
            <a:fillRect/>
          </a:stretch>
        </p:blipFill>
        <p:spPr>
          <a:xfrm>
            <a:off x="720428" y="423043"/>
            <a:ext cx="4778176" cy="839512"/>
          </a:xfrm>
          <a:prstGeom prst="rect">
            <a:avLst/>
          </a:prstGeom>
        </p:spPr>
      </p:pic>
      <p:sp>
        <p:nvSpPr>
          <p:cNvPr id="14" name="Slide Number Placeholder 5"/>
          <p:cNvSpPr>
            <a:spLocks noGrp="1"/>
          </p:cNvSpPr>
          <p:nvPr>
            <p:ph type="sldNum" sz="quarter" idx="4"/>
          </p:nvPr>
        </p:nvSpPr>
        <p:spPr>
          <a:xfrm>
            <a:off x="9144000" y="6356351"/>
            <a:ext cx="2844800" cy="366183"/>
          </a:xfrm>
          <a:prstGeom prst="rect">
            <a:avLst/>
          </a:prstGeom>
        </p:spPr>
        <p:txBody>
          <a:bodyPr/>
          <a:lstStyle>
            <a:lvl1pPr algn="r">
              <a:defRPr sz="2000">
                <a:solidFill>
                  <a:schemeClr val="tx1">
                    <a:lumMod val="65000"/>
                    <a:lumOff val="35000"/>
                  </a:schemeClr>
                </a:solidFill>
              </a:defRPr>
            </a:lvl1pPr>
          </a:lstStyle>
          <a:p>
            <a:fld id="{EB08E37E-5A7D-4575-BB85-0B57CCBFF9C8}" type="slidenum">
              <a:rPr lang="en-US" smtClean="0"/>
            </a:fld>
            <a:endParaRPr lang="en-US"/>
          </a:p>
        </p:txBody>
      </p:sp>
      <p:pic>
        <p:nvPicPr>
          <p:cNvPr id="16" name="Picture 15"/>
          <p:cNvPicPr>
            <a:picLocks noChangeAspect="1"/>
          </p:cNvPicPr>
          <p:nvPr/>
        </p:nvPicPr>
        <p:blipFill rotWithShape="1">
          <a:blip r:embed="rId14" cstate="print">
            <a:extLst>
              <a:ext uri="{28A0092B-C50C-407E-A947-70E740481C1C}">
                <a14:useLocalDpi xmlns:a14="http://schemas.microsoft.com/office/drawing/2010/main" val="0"/>
              </a:ext>
            </a:extLst>
          </a:blip>
          <a:srcRect t="8102" b="5412"/>
          <a:stretch>
            <a:fillRect/>
          </a:stretch>
        </p:blipFill>
        <p:spPr>
          <a:xfrm>
            <a:off x="8239208" y="373407"/>
            <a:ext cx="3241592" cy="93878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088390" rtl="0" eaLnBrk="1" latinLnBrk="0" hangingPunct="1">
        <a:spcBef>
          <a:spcPct val="0"/>
        </a:spcBef>
        <a:buNone/>
        <a:defRPr sz="5335" kern="1200">
          <a:solidFill>
            <a:schemeClr val="tx1"/>
          </a:solidFill>
          <a:latin typeface="+mj-lt"/>
          <a:ea typeface="+mj-ea"/>
          <a:cs typeface="+mj-cs"/>
        </a:defRPr>
      </a:lvl1pPr>
    </p:titleStyle>
    <p:bodyStyle>
      <a:lvl1pPr marL="408305" indent="-408305" algn="l" defTabSz="1088390" rtl="0" eaLnBrk="1" latinLnBrk="0" hangingPunct="1">
        <a:spcBef>
          <a:spcPct val="20000"/>
        </a:spcBef>
        <a:buFont typeface="Arial" panose="020B0604020202090204" pitchFamily="34" charset="0"/>
        <a:buChar char="•"/>
        <a:defRPr sz="3865" kern="1200">
          <a:solidFill>
            <a:schemeClr val="tx1"/>
          </a:solidFill>
          <a:latin typeface="+mn-lt"/>
          <a:ea typeface="+mn-ea"/>
          <a:cs typeface="+mn-cs"/>
        </a:defRPr>
      </a:lvl1pPr>
      <a:lvl2pPr marL="884555" indent="-340360" algn="l" defTabSz="1088390" rtl="0" eaLnBrk="1" latinLnBrk="0" hangingPunct="1">
        <a:spcBef>
          <a:spcPct val="20000"/>
        </a:spcBef>
        <a:buFont typeface="Arial" panose="020B0604020202090204" pitchFamily="34" charset="0"/>
        <a:buChar char="–"/>
        <a:defRPr sz="3335" kern="1200">
          <a:solidFill>
            <a:schemeClr val="tx1"/>
          </a:solidFill>
          <a:latin typeface="+mn-lt"/>
          <a:ea typeface="+mn-ea"/>
          <a:cs typeface="+mn-cs"/>
        </a:defRPr>
      </a:lvl2pPr>
      <a:lvl3pPr marL="1360805" indent="-272415" algn="l" defTabSz="1088390" rtl="0" eaLnBrk="1" latinLnBrk="0" hangingPunct="1">
        <a:spcBef>
          <a:spcPct val="20000"/>
        </a:spcBef>
        <a:buFont typeface="Arial" panose="020B0604020202090204" pitchFamily="34" charset="0"/>
        <a:buChar char="•"/>
        <a:defRPr sz="2935" kern="1200">
          <a:solidFill>
            <a:schemeClr val="tx1"/>
          </a:solidFill>
          <a:latin typeface="+mn-lt"/>
          <a:ea typeface="+mn-ea"/>
          <a:cs typeface="+mn-cs"/>
        </a:defRPr>
      </a:lvl3pPr>
      <a:lvl4pPr marL="1905000"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4pPr>
      <a:lvl5pPr marL="2449195"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9pPr>
    </p:bodyStyle>
    <p:otherStyle>
      <a:defPPr>
        <a:defRPr lang="en-US"/>
      </a:defPPr>
      <a:lvl1pPr marL="0" algn="l" defTabSz="1088390" rtl="0" eaLnBrk="1" latinLnBrk="0" hangingPunct="1">
        <a:defRPr sz="2135" kern="1200">
          <a:solidFill>
            <a:schemeClr val="tx1"/>
          </a:solidFill>
          <a:latin typeface="+mn-lt"/>
          <a:ea typeface="+mn-ea"/>
          <a:cs typeface="+mn-cs"/>
        </a:defRPr>
      </a:lvl1pPr>
      <a:lvl2pPr marL="544195" algn="l" defTabSz="1088390" rtl="0" eaLnBrk="1" latinLnBrk="0" hangingPunct="1">
        <a:defRPr sz="2135" kern="1200">
          <a:solidFill>
            <a:schemeClr val="tx1"/>
          </a:solidFill>
          <a:latin typeface="+mn-lt"/>
          <a:ea typeface="+mn-ea"/>
          <a:cs typeface="+mn-cs"/>
        </a:defRPr>
      </a:lvl2pPr>
      <a:lvl3pPr marL="1088390" algn="l" defTabSz="1088390" rtl="0" eaLnBrk="1" latinLnBrk="0" hangingPunct="1">
        <a:defRPr sz="2135" kern="1200">
          <a:solidFill>
            <a:schemeClr val="tx1"/>
          </a:solidFill>
          <a:latin typeface="+mn-lt"/>
          <a:ea typeface="+mn-ea"/>
          <a:cs typeface="+mn-cs"/>
        </a:defRPr>
      </a:lvl3pPr>
      <a:lvl4pPr marL="1632585" algn="l" defTabSz="1088390" rtl="0" eaLnBrk="1" latinLnBrk="0" hangingPunct="1">
        <a:defRPr sz="2135" kern="1200">
          <a:solidFill>
            <a:schemeClr val="tx1"/>
          </a:solidFill>
          <a:latin typeface="+mn-lt"/>
          <a:ea typeface="+mn-ea"/>
          <a:cs typeface="+mn-cs"/>
        </a:defRPr>
      </a:lvl4pPr>
      <a:lvl5pPr marL="2176780" algn="l" defTabSz="1088390" rtl="0" eaLnBrk="1" latinLnBrk="0" hangingPunct="1">
        <a:defRPr sz="2135" kern="1200">
          <a:solidFill>
            <a:schemeClr val="tx1"/>
          </a:solidFill>
          <a:latin typeface="+mn-lt"/>
          <a:ea typeface="+mn-ea"/>
          <a:cs typeface="+mn-cs"/>
        </a:defRPr>
      </a:lvl5pPr>
      <a:lvl6pPr marL="2720975" algn="l" defTabSz="1088390" rtl="0" eaLnBrk="1" latinLnBrk="0" hangingPunct="1">
        <a:defRPr sz="2135" kern="1200">
          <a:solidFill>
            <a:schemeClr val="tx1"/>
          </a:solidFill>
          <a:latin typeface="+mn-lt"/>
          <a:ea typeface="+mn-ea"/>
          <a:cs typeface="+mn-cs"/>
        </a:defRPr>
      </a:lvl6pPr>
      <a:lvl7pPr marL="3265170" algn="l" defTabSz="1088390" rtl="0" eaLnBrk="1" latinLnBrk="0" hangingPunct="1">
        <a:defRPr sz="2135" kern="1200">
          <a:solidFill>
            <a:schemeClr val="tx1"/>
          </a:solidFill>
          <a:latin typeface="+mn-lt"/>
          <a:ea typeface="+mn-ea"/>
          <a:cs typeface="+mn-cs"/>
        </a:defRPr>
      </a:lvl7pPr>
      <a:lvl8pPr marL="3809365" algn="l" defTabSz="1088390" rtl="0" eaLnBrk="1" latinLnBrk="0" hangingPunct="1">
        <a:defRPr sz="2135" kern="1200">
          <a:solidFill>
            <a:schemeClr val="tx1"/>
          </a:solidFill>
          <a:latin typeface="+mn-lt"/>
          <a:ea typeface="+mn-ea"/>
          <a:cs typeface="+mn-cs"/>
        </a:defRPr>
      </a:lvl8pPr>
      <a:lvl9pPr marL="4353560" algn="l" defTabSz="1088390" rtl="0" eaLnBrk="1" latinLnBrk="0" hangingPunct="1">
        <a:defRPr sz="21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60" y="2052955"/>
            <a:ext cx="11330940" cy="2474595"/>
          </a:xfrm>
        </p:spPr>
        <p:txBody>
          <a:bodyPr>
            <a:normAutofit fontScale="90000"/>
          </a:bodyPr>
          <a:lstStyle/>
          <a:p>
            <a:pPr>
              <a:lnSpc>
                <a:spcPct val="90000"/>
              </a:lnSpc>
            </a:pPr>
            <a:r>
              <a:rPr lang="en-US" altLang="zh-CN" sz="3600" dirty="0">
                <a:latin typeface="+mj-lt"/>
                <a:cs typeface="+mj-cs"/>
              </a:rPr>
              <a:t>Texture Analysis for Retinoblastoma Classification Using Ultra-wide-field Retinal Fundus Images</a:t>
            </a:r>
            <a:br>
              <a:rPr lang="en-US" altLang="en-US" sz="3600" dirty="0">
                <a:latin typeface="+mj-lt"/>
                <a:cs typeface="+mj-cs"/>
              </a:rPr>
            </a:br>
            <a:br>
              <a:rPr lang="en-US" altLang="en-US" sz="2800" dirty="0"/>
            </a:br>
            <a:r>
              <a:rPr lang="en-US" altLang="en-US" sz="2800" dirty="0"/>
              <a:t>Student</a:t>
            </a:r>
            <a:r>
              <a:rPr lang="en-US" altLang="zh-CN" sz="2400" dirty="0">
                <a:latin typeface="+mj-lt"/>
                <a:cs typeface="+mj-cs"/>
              </a:rPr>
              <a:t>: He Shengya</a:t>
            </a:r>
            <a:br>
              <a:rPr lang="en-US" altLang="zh-CN" sz="2400" dirty="0">
                <a:latin typeface="+mj-lt"/>
                <a:cs typeface="+mj-cs"/>
              </a:rPr>
            </a:br>
            <a:r>
              <a:rPr lang="en-US" altLang="zh-CN" sz="2400" dirty="0">
                <a:latin typeface="+mj-lt"/>
                <a:cs typeface="+mj-cs"/>
              </a:rPr>
              <a:t>Student ID: 1155239361</a:t>
            </a:r>
            <a:br>
              <a:rPr lang="en-US" altLang="zh-CN" sz="2400" dirty="0">
                <a:latin typeface="+mj-lt"/>
                <a:cs typeface="+mj-cs"/>
              </a:rPr>
            </a:br>
            <a:r>
              <a:rPr lang="en-US" altLang="zh-CN" sz="2400" dirty="0">
                <a:latin typeface="+mj-lt"/>
                <a:cs typeface="+mj-cs"/>
              </a:rPr>
              <a:t>S</a:t>
            </a:r>
            <a:r>
              <a:rPr lang="en-US" altLang="zh-CN" sz="2400" dirty="0">
                <a:latin typeface="+mj-lt"/>
                <a:cs typeface="+mj-cs"/>
              </a:rPr>
              <a:t>upervisor: Dr.Jack Lee</a:t>
            </a:r>
            <a:br>
              <a:rPr lang="en-US" altLang="zh-CN" sz="2400" dirty="0">
                <a:latin typeface="+mj-lt"/>
                <a:cs typeface="+mj-cs"/>
              </a:rPr>
            </a:br>
            <a:r>
              <a:rPr lang="en-US" altLang="zh-CN" sz="2400" dirty="0">
                <a:latin typeface="+mj-lt"/>
                <a:cs typeface="+mj-cs"/>
              </a:rPr>
              <a:t>Date:  Feb,24</a:t>
            </a:r>
            <a:endParaRPr lang="zh-CN" altLang="en-US" sz="2400" dirty="0">
              <a:latin typeface="+mj-lt"/>
              <a:cs typeface="+mj-cs"/>
            </a:endParaRPr>
          </a:p>
        </p:txBody>
      </p:sp>
      <p:sp>
        <p:nvSpPr>
          <p:cNvPr id="3" name="灯片编号占位符 2"/>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70" b="1" dirty="0"/>
              <a:t> O</a:t>
            </a:r>
            <a:r>
              <a:rPr lang="en-US" sz="4270" b="1" dirty="0"/>
              <a:t>utline</a:t>
            </a:r>
            <a:endParaRPr lang="en-US" sz="4270" b="1" dirty="0"/>
          </a:p>
        </p:txBody>
      </p:sp>
      <p:sp>
        <p:nvSpPr>
          <p:cNvPr id="3" name="Content Placeholder 2"/>
          <p:cNvSpPr>
            <a:spLocks noGrp="1"/>
          </p:cNvSpPr>
          <p:nvPr>
            <p:ph sz="quarter" idx="12"/>
          </p:nvPr>
        </p:nvSpPr>
        <p:spPr>
          <a:xfrm>
            <a:off x="508000" y="1495541"/>
            <a:ext cx="11176000" cy="4329316"/>
          </a:xfrm>
        </p:spPr>
        <p:txBody>
          <a:bodyPr>
            <a:normAutofit fontScale="25000"/>
          </a:bodyPr>
          <a:lstStyle/>
          <a:p>
            <a:pPr lvl="1"/>
            <a:r>
              <a:rPr lang="en-US" altLang="zh-CN" sz="11200" dirty="0">
                <a:latin typeface="+mj-lt"/>
                <a:cs typeface="+mj-lt"/>
                <a:sym typeface="+mn-ea"/>
              </a:rPr>
              <a:t>The Critical </a:t>
            </a:r>
            <a:r>
              <a:rPr lang="en-US" altLang="zh-CN" sz="11200" b="1" dirty="0">
                <a:latin typeface="+mj-lt"/>
                <a:cs typeface="+mj-lt"/>
                <a:sym typeface="+mn-ea"/>
              </a:rPr>
              <a:t>Challenge</a:t>
            </a:r>
            <a:r>
              <a:rPr lang="en-US" altLang="zh-CN" sz="11200" dirty="0">
                <a:latin typeface="+mj-lt"/>
                <a:cs typeface="+mj-lt"/>
                <a:sym typeface="+mn-ea"/>
              </a:rPr>
              <a:t> of RB</a:t>
            </a:r>
            <a:endParaRPr lang="en-US" altLang="zh-CN" sz="11200" dirty="0">
              <a:latin typeface="+mj-lt"/>
              <a:cs typeface="+mj-lt"/>
              <a:sym typeface="+mn-ea"/>
            </a:endParaRPr>
          </a:p>
          <a:p>
            <a:pPr lvl="1"/>
            <a:r>
              <a:rPr lang="en-US" altLang="zh-CN" sz="11200" b="1" dirty="0">
                <a:solidFill>
                  <a:schemeClr val="tx1"/>
                </a:solidFill>
                <a:latin typeface="+mj-lt"/>
                <a:cs typeface="+mj-lt"/>
              </a:rPr>
              <a:t>Limitations</a:t>
            </a:r>
            <a:r>
              <a:rPr lang="en-US" altLang="zh-CN" sz="11200" dirty="0">
                <a:solidFill>
                  <a:schemeClr val="tx1"/>
                </a:solidFill>
                <a:latin typeface="+mj-lt"/>
                <a:cs typeface="+mj-lt"/>
              </a:rPr>
              <a:t> of Current Diagnostics</a:t>
            </a:r>
            <a:endParaRPr lang="en-US" altLang="zh-CN" sz="11200" dirty="0">
              <a:solidFill>
                <a:schemeClr val="tx1"/>
              </a:solidFill>
              <a:latin typeface="+mj-lt"/>
              <a:cs typeface="+mj-lt"/>
            </a:endParaRPr>
          </a:p>
          <a:p>
            <a:pPr lvl="1"/>
            <a:r>
              <a:rPr lang="en-US" altLang="zh-CN" sz="11200" dirty="0">
                <a:solidFill>
                  <a:schemeClr val="tx1"/>
                </a:solidFill>
                <a:latin typeface="+mj-lt"/>
                <a:cs typeface="+mj-lt"/>
              </a:rPr>
              <a:t>The Gap in AI: Black Box Problem</a:t>
            </a:r>
            <a:endParaRPr lang="en-US" altLang="zh-CN" sz="11200" dirty="0">
              <a:solidFill>
                <a:schemeClr val="tx1"/>
              </a:solidFill>
              <a:latin typeface="+mj-lt"/>
              <a:cs typeface="+mj-lt"/>
            </a:endParaRPr>
          </a:p>
          <a:p>
            <a:pPr lvl="1"/>
            <a:r>
              <a:rPr lang="en-US" altLang="zh-CN" sz="11200" b="1" dirty="0">
                <a:solidFill>
                  <a:schemeClr val="tx1"/>
                </a:solidFill>
                <a:latin typeface="+mj-lt"/>
                <a:cs typeface="+mj-lt"/>
              </a:rPr>
              <a:t>My Proposed Solution:</a:t>
            </a:r>
            <a:r>
              <a:rPr lang="en-US" altLang="zh-CN" sz="11200" dirty="0">
                <a:solidFill>
                  <a:schemeClr val="tx1"/>
                </a:solidFill>
                <a:latin typeface="+mj-lt"/>
                <a:cs typeface="+mj-lt"/>
              </a:rPr>
              <a:t> Texture Analysis</a:t>
            </a:r>
            <a:endParaRPr lang="en-US" altLang="zh-CN" sz="11200" dirty="0">
              <a:solidFill>
                <a:schemeClr val="tx1"/>
              </a:solidFill>
              <a:latin typeface="+mj-lt"/>
              <a:cs typeface="+mj-lt"/>
            </a:endParaRPr>
          </a:p>
          <a:p>
            <a:pPr lvl="1"/>
            <a:r>
              <a:rPr lang="en-US" altLang="zh-CN" sz="11200" dirty="0">
                <a:solidFill>
                  <a:schemeClr val="tx1"/>
                </a:solidFill>
                <a:latin typeface="+mj-lt"/>
                <a:cs typeface="+mj-lt"/>
              </a:rPr>
              <a:t>Research Question &amp; Objectives</a:t>
            </a:r>
            <a:endParaRPr lang="en-US" altLang="zh-CN" sz="11200" dirty="0">
              <a:solidFill>
                <a:schemeClr val="tx1"/>
              </a:solidFill>
              <a:latin typeface="+mj-lt"/>
              <a:cs typeface="+mj-lt"/>
            </a:endParaRPr>
          </a:p>
          <a:p>
            <a:pPr lvl="1"/>
            <a:r>
              <a:rPr lang="en-US" altLang="zh-CN" sz="11200" dirty="0">
                <a:solidFill>
                  <a:schemeClr val="tx1"/>
                </a:solidFill>
                <a:latin typeface="+mj-lt"/>
                <a:cs typeface="+mj-lt"/>
              </a:rPr>
              <a:t>Study Design &amp; Data Source</a:t>
            </a:r>
            <a:endParaRPr lang="en-US" altLang="zh-CN" sz="11200" dirty="0">
              <a:solidFill>
                <a:schemeClr val="tx1"/>
              </a:solidFill>
              <a:latin typeface="+mj-lt"/>
              <a:cs typeface="+mj-lt"/>
            </a:endParaRPr>
          </a:p>
          <a:p>
            <a:pPr lvl="1"/>
            <a:r>
              <a:rPr lang="en-US" altLang="zh-CN" sz="11200" dirty="0">
                <a:solidFill>
                  <a:schemeClr val="tx1"/>
                </a:solidFill>
                <a:latin typeface="+mj-lt"/>
                <a:cs typeface="+mj-lt"/>
              </a:rPr>
              <a:t>Methodology Overview</a:t>
            </a:r>
            <a:endParaRPr lang="en-US" altLang="zh-CN" sz="11200" dirty="0">
              <a:solidFill>
                <a:schemeClr val="tx1"/>
              </a:solidFill>
              <a:latin typeface="+mj-lt"/>
              <a:cs typeface="+mj-lt"/>
            </a:endParaRPr>
          </a:p>
          <a:p>
            <a:pPr lvl="1"/>
            <a:r>
              <a:rPr lang="en-US" altLang="zh-CN" sz="11200" b="1" dirty="0">
                <a:solidFill>
                  <a:schemeClr val="tx1"/>
                </a:solidFill>
                <a:latin typeface="+mj-lt"/>
                <a:cs typeface="+mj-lt"/>
              </a:rPr>
              <a:t>Current Progress</a:t>
            </a:r>
            <a:endParaRPr lang="en-US" altLang="zh-CN" sz="7200" b="1" dirty="0">
              <a:solidFill>
                <a:schemeClr val="tx1"/>
              </a:solidFill>
              <a:latin typeface="+mj-lt"/>
              <a:cs typeface="+mj-lt"/>
            </a:endParaRPr>
          </a:p>
          <a:p>
            <a:pPr marL="0" indent="0">
              <a:buNone/>
            </a:pPr>
            <a:endParaRPr lang="en-US" sz="3200" b="1" dirty="0">
              <a:solidFill>
                <a:schemeClr val="bg1">
                  <a:lumMod val="75000"/>
                </a:schemeClr>
              </a:solidFill>
              <a:latin typeface="+mj-lt"/>
              <a:cs typeface="+mj-lt"/>
            </a:endParaRPr>
          </a:p>
          <a:p>
            <a:endParaRPr lang="en-US" sz="3200" b="1" dirty="0">
              <a:solidFill>
                <a:srgbClr val="336600"/>
              </a:solidFill>
              <a:latin typeface="+mj-lt"/>
              <a:cs typeface="+mj-lt"/>
            </a:endParaRPr>
          </a:p>
          <a:p>
            <a:endParaRPr lang="en-US" sz="3200" b="1" dirty="0">
              <a:solidFill>
                <a:srgbClr val="336600"/>
              </a:solidFill>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31261"/>
            <a:ext cx="11176000" cy="1147631"/>
          </a:xfrm>
        </p:spPr>
        <p:txBody>
          <a:bodyPr>
            <a:normAutofit fontScale="90000"/>
          </a:bodyPr>
          <a:lstStyle/>
          <a:p>
            <a:r>
              <a:rPr lang="en-US" altLang="zh-CN" sz="4000" dirty="0">
                <a:latin typeface="+mj-lt"/>
                <a:cs typeface="+mj-lt"/>
              </a:rPr>
              <a:t>The Critical Challenge </a:t>
            </a:r>
            <a:r>
              <a:rPr lang="en-US" altLang="zh-CN" sz="4000" dirty="0">
                <a:latin typeface="+mj-lt"/>
                <a:cs typeface="+mj-lt"/>
              </a:rPr>
              <a:t>of Retinoblastoma (RB)</a:t>
            </a:r>
            <a:br>
              <a:rPr lang="en-US" altLang="zh-CN" sz="4000" dirty="0">
                <a:latin typeface="+mj-lt"/>
                <a:cs typeface="+mj-lt"/>
              </a:rPr>
            </a:br>
            <a:br>
              <a:rPr lang="en-US" altLang="zh-CN" sz="4000" dirty="0">
                <a:latin typeface="+mj-lt"/>
                <a:cs typeface="+mj-lt"/>
              </a:rPr>
            </a:br>
            <a:endParaRPr lang="en-US" altLang="zh-CN" sz="4000" dirty="0">
              <a:latin typeface="+mj-lt"/>
              <a:cs typeface="+mj-lt"/>
            </a:endParaRPr>
          </a:p>
        </p:txBody>
      </p:sp>
      <p:sp>
        <p:nvSpPr>
          <p:cNvPr id="3" name="Content Placeholder 2"/>
          <p:cNvSpPr>
            <a:spLocks noGrp="1"/>
          </p:cNvSpPr>
          <p:nvPr>
            <p:ph sz="quarter" idx="12"/>
          </p:nvPr>
        </p:nvSpPr>
        <p:spPr>
          <a:xfrm>
            <a:off x="508000" y="1179830"/>
            <a:ext cx="11684635" cy="5678170"/>
          </a:xfrm>
        </p:spPr>
        <p:txBody>
          <a:bodyPr>
            <a:noAutofit/>
          </a:bodyPr>
          <a:lstStyle/>
          <a:p>
            <a:pPr marL="0" indent="0">
              <a:lnSpc>
                <a:spcPct val="110000"/>
              </a:lnSpc>
              <a:buNone/>
            </a:pPr>
            <a:r>
              <a:rPr lang="en-US" altLang="zh-CN" b="1" dirty="0">
                <a:latin typeface="+mn-lt"/>
                <a:cs typeface="+mn-lt"/>
              </a:rPr>
              <a:t>Disease </a:t>
            </a:r>
            <a:r>
              <a:rPr lang="en-US" altLang="zh-CN" b="1" dirty="0">
                <a:latin typeface="+mn-lt"/>
                <a:cs typeface="+mn-lt"/>
              </a:rPr>
              <a:t>Burden &amp; Urgency</a:t>
            </a:r>
            <a:endParaRPr lang="en-US" altLang="zh-CN" b="1" dirty="0">
              <a:latin typeface="+mn-lt"/>
              <a:cs typeface="+mn-lt"/>
            </a:endParaRPr>
          </a:p>
          <a:p>
            <a:pPr>
              <a:lnSpc>
                <a:spcPct val="110000"/>
              </a:lnSpc>
            </a:pPr>
            <a:r>
              <a:rPr lang="en-US" altLang="zh-CN" b="1" dirty="0">
                <a:latin typeface="+mn-lt"/>
                <a:cs typeface="+mn-lt"/>
              </a:rPr>
              <a:t>Most common </a:t>
            </a:r>
            <a:r>
              <a:rPr lang="en-US" altLang="zh-CN" dirty="0">
                <a:latin typeface="+mn-lt"/>
                <a:cs typeface="+mn-lt"/>
              </a:rPr>
              <a:t>primary intraocular malignant tumor in children</a:t>
            </a:r>
            <a:r>
              <a:rPr lang="en-US" altLang="zh-CN" baseline="30000" dirty="0">
                <a:latin typeface="+mn-lt"/>
                <a:cs typeface="+mn-lt"/>
              </a:rPr>
              <a:t>(1)</a:t>
            </a:r>
            <a:endParaRPr lang="en-US" altLang="zh-CN" baseline="30000" dirty="0">
              <a:latin typeface="+mn-lt"/>
              <a:cs typeface="+mn-lt"/>
            </a:endParaRPr>
          </a:p>
          <a:p>
            <a:pPr marL="0" indent="0">
              <a:lnSpc>
                <a:spcPct val="110000"/>
              </a:lnSpc>
              <a:buNone/>
            </a:pPr>
            <a:r>
              <a:rPr lang="en-US" altLang="zh-CN" dirty="0">
                <a:latin typeface="+mn-lt"/>
                <a:cs typeface="+mn-lt"/>
              </a:rPr>
              <a:t>    (&gt;</a:t>
            </a:r>
            <a:r>
              <a:rPr lang="en-US" altLang="zh-CN" b="1" dirty="0">
                <a:solidFill>
                  <a:schemeClr val="tx2"/>
                </a:solidFill>
                <a:latin typeface="+mn-lt"/>
                <a:cs typeface="+mn-lt"/>
              </a:rPr>
              <a:t>70%</a:t>
            </a:r>
            <a:r>
              <a:rPr lang="en-US" altLang="zh-CN" dirty="0">
                <a:solidFill>
                  <a:schemeClr val="tx2"/>
                </a:solidFill>
                <a:latin typeface="+mn-lt"/>
                <a:cs typeface="+mn-lt"/>
              </a:rPr>
              <a:t> </a:t>
            </a:r>
            <a:r>
              <a:rPr lang="en-US" altLang="zh-CN" dirty="0">
                <a:latin typeface="+mn-lt"/>
                <a:cs typeface="+mn-lt"/>
              </a:rPr>
              <a:t>diagnosed under age </a:t>
            </a:r>
            <a:r>
              <a:rPr lang="en-US" altLang="zh-CN" b="1" dirty="0">
                <a:solidFill>
                  <a:schemeClr val="tx2"/>
                </a:solidFill>
                <a:latin typeface="+mn-lt"/>
                <a:cs typeface="+mn-lt"/>
              </a:rPr>
              <a:t>2</a:t>
            </a:r>
            <a:r>
              <a:rPr lang="en-US" altLang="zh-CN" dirty="0">
                <a:latin typeface="+mn-lt"/>
                <a:cs typeface="+mn-lt"/>
              </a:rPr>
              <a:t>).</a:t>
            </a:r>
            <a:endParaRPr lang="en-US" altLang="zh-CN" dirty="0">
              <a:latin typeface="+mn-lt"/>
              <a:cs typeface="+mn-lt"/>
            </a:endParaRPr>
          </a:p>
          <a:p>
            <a:pPr>
              <a:lnSpc>
                <a:spcPct val="110000"/>
              </a:lnSpc>
            </a:pPr>
            <a:r>
              <a:rPr lang="en-US" altLang="zh-CN" b="1" dirty="0">
                <a:latin typeface="+mn-lt"/>
                <a:cs typeface="+mn-lt"/>
              </a:rPr>
              <a:t>Global burden:</a:t>
            </a:r>
            <a:r>
              <a:rPr lang="en-US" altLang="zh-CN" dirty="0">
                <a:latin typeface="+mn-lt"/>
                <a:cs typeface="+mn-lt"/>
              </a:rPr>
              <a:t> </a:t>
            </a:r>
            <a:r>
              <a:rPr lang="en-US" altLang="zh-CN" b="1" dirty="0">
                <a:solidFill>
                  <a:schemeClr val="tx2"/>
                </a:solidFill>
                <a:latin typeface="+mn-lt"/>
                <a:cs typeface="+mn-lt"/>
              </a:rPr>
              <a:t>8,000-9,000</a:t>
            </a:r>
            <a:r>
              <a:rPr lang="en-US" altLang="zh-CN" dirty="0">
                <a:latin typeface="+mn-lt"/>
                <a:cs typeface="+mn-lt"/>
              </a:rPr>
              <a:t> new cases annually</a:t>
            </a:r>
            <a:r>
              <a:rPr lang="en-US" altLang="zh-CN" baseline="30000" dirty="0">
                <a:latin typeface="+mn-lt"/>
                <a:cs typeface="+mn-lt"/>
              </a:rPr>
              <a:t>(6)</a:t>
            </a:r>
            <a:r>
              <a:rPr lang="en-US" altLang="zh-CN" dirty="0">
                <a:latin typeface="+mn-lt"/>
                <a:cs typeface="+mn-lt"/>
              </a:rPr>
              <a:t>. </a:t>
            </a:r>
            <a:endParaRPr lang="en-US" altLang="zh-CN" dirty="0">
              <a:latin typeface="+mn-lt"/>
              <a:cs typeface="+mn-lt"/>
            </a:endParaRPr>
          </a:p>
          <a:p>
            <a:pPr>
              <a:lnSpc>
                <a:spcPct val="110000"/>
              </a:lnSpc>
            </a:pPr>
            <a:r>
              <a:rPr lang="en-US" altLang="zh-CN" b="1" dirty="0">
                <a:latin typeface="+mn-lt"/>
                <a:cs typeface="+mn-lt"/>
              </a:rPr>
              <a:t>China:</a:t>
            </a:r>
            <a:r>
              <a:rPr lang="en-US" altLang="zh-CN" dirty="0">
                <a:latin typeface="+mn-lt"/>
                <a:cs typeface="+mn-lt"/>
              </a:rPr>
              <a:t> </a:t>
            </a:r>
            <a:r>
              <a:rPr lang="en-US" altLang="zh-CN" b="1" dirty="0">
                <a:solidFill>
                  <a:schemeClr val="tx2"/>
                </a:solidFill>
                <a:latin typeface="+mn-lt"/>
                <a:cs typeface="+mn-lt"/>
              </a:rPr>
              <a:t>~1,100</a:t>
            </a:r>
            <a:r>
              <a:rPr lang="en-US" altLang="zh-CN" dirty="0">
                <a:latin typeface="+mn-lt"/>
                <a:cs typeface="+mn-lt"/>
              </a:rPr>
              <a:t> new cases per year</a:t>
            </a:r>
            <a:r>
              <a:rPr lang="en-US" altLang="zh-CN" baseline="30000" dirty="0">
                <a:latin typeface="+mn-lt"/>
                <a:cs typeface="+mn-lt"/>
              </a:rPr>
              <a:t>(7)</a:t>
            </a:r>
            <a:r>
              <a:rPr lang="en-US" altLang="zh-CN" dirty="0">
                <a:latin typeface="+mn-lt"/>
                <a:cs typeface="+mn-lt"/>
              </a:rPr>
              <a:t>.</a:t>
            </a:r>
            <a:endParaRPr lang="en-US" altLang="zh-CN" dirty="0">
              <a:latin typeface="+mn-lt"/>
              <a:cs typeface="+mn-lt"/>
            </a:endParaRPr>
          </a:p>
          <a:p>
            <a:pPr>
              <a:lnSpc>
                <a:spcPct val="110000"/>
              </a:lnSpc>
            </a:pPr>
            <a:r>
              <a:rPr lang="en-US" altLang="zh-CN" b="1" dirty="0">
                <a:latin typeface="+mn-lt"/>
                <a:cs typeface="+mn-lt"/>
                <a:sym typeface="+mn-ea"/>
              </a:rPr>
              <a:t>Disability-Adjusted Life Years (DALYs)</a:t>
            </a:r>
            <a:r>
              <a:rPr lang="en-US" altLang="zh-CN" dirty="0">
                <a:latin typeface="+mn-lt"/>
                <a:cs typeface="+mn-lt"/>
                <a:sym typeface="+mn-ea"/>
              </a:rPr>
              <a:t> are projected to rise </a:t>
            </a:r>
            <a:r>
              <a:rPr lang="en-US" altLang="zh-CN" dirty="0">
                <a:latin typeface="+mn-lt"/>
                <a:cs typeface="+mn-lt"/>
              </a:rPr>
              <a:t>by </a:t>
            </a:r>
            <a:r>
              <a:rPr lang="en-US" altLang="zh-CN" b="1" dirty="0">
                <a:solidFill>
                  <a:schemeClr val="tx2"/>
                </a:solidFill>
                <a:latin typeface="+mn-lt"/>
                <a:cs typeface="+mn-lt"/>
              </a:rPr>
              <a:t>2040 </a:t>
            </a:r>
            <a:r>
              <a:rPr lang="en-US" altLang="zh-CN" dirty="0">
                <a:latin typeface="+mn-lt"/>
                <a:cs typeface="+mn-lt"/>
              </a:rPr>
              <a:t>despite declining cases</a:t>
            </a:r>
            <a:r>
              <a:rPr lang="en-US" altLang="zh-CN" baseline="30000" dirty="0">
                <a:latin typeface="+mn-lt"/>
                <a:cs typeface="+mn-lt"/>
              </a:rPr>
              <a:t>(8)</a:t>
            </a:r>
            <a:endParaRPr lang="en-US" altLang="zh-CN" dirty="0">
              <a:latin typeface="+mn-lt"/>
              <a:cs typeface="+mn-lt"/>
            </a:endParaRPr>
          </a:p>
          <a:p>
            <a:pPr>
              <a:lnSpc>
                <a:spcPct val="110000"/>
              </a:lnSpc>
            </a:pPr>
            <a:r>
              <a:rPr lang="en-US" altLang="zh-CN" b="1" dirty="0">
                <a:latin typeface="+mn-lt"/>
                <a:cs typeface="+mn-lt"/>
              </a:rPr>
              <a:t>Life-threatening if metastasized: </a:t>
            </a:r>
            <a:r>
              <a:rPr lang="en-US" altLang="zh-CN" dirty="0">
                <a:latin typeface="+mn-lt"/>
                <a:cs typeface="+mn-lt"/>
              </a:rPr>
              <a:t>Survival rate </a:t>
            </a:r>
            <a:r>
              <a:rPr lang="en-US" altLang="zh-CN" b="1" dirty="0">
                <a:solidFill>
                  <a:schemeClr val="tx2"/>
                </a:solidFill>
                <a:latin typeface="+mn-lt"/>
                <a:cs typeface="+mn-lt"/>
              </a:rPr>
              <a:t>&lt;50%</a:t>
            </a:r>
            <a:r>
              <a:rPr lang="en-US" altLang="zh-CN" dirty="0">
                <a:latin typeface="+mn-lt"/>
                <a:cs typeface="+mn-lt"/>
              </a:rPr>
              <a:t> post-extraocular spread.</a:t>
            </a:r>
            <a:r>
              <a:rPr lang="en-US" altLang="zh-CN" baseline="30000" dirty="0">
                <a:latin typeface="+mn-lt"/>
                <a:cs typeface="+mn-lt"/>
              </a:rPr>
              <a:t>(4)</a:t>
            </a:r>
            <a:endParaRPr lang="en-US" altLang="zh-CN" dirty="0">
              <a:latin typeface="+mn-lt"/>
              <a:cs typeface="+mn-lt"/>
            </a:endParaRPr>
          </a:p>
          <a:p>
            <a:pPr>
              <a:lnSpc>
                <a:spcPct val="110000"/>
              </a:lnSpc>
            </a:pPr>
            <a:r>
              <a:rPr lang="en-US" altLang="zh-CN" b="1" dirty="0">
                <a:latin typeface="+mn-lt"/>
                <a:cs typeface="+mn-lt"/>
                <a:sym typeface="+mn-ea"/>
              </a:rPr>
              <a:t>This burden is not equally distributed, children face worse outcomes in lower SDI (sociodemographic index) regions</a:t>
            </a:r>
            <a:r>
              <a:rPr lang="en-US" altLang="zh-CN" dirty="0">
                <a:latin typeface="+mn-lt"/>
                <a:cs typeface="+mn-lt"/>
                <a:sym typeface="+mn-ea"/>
              </a:rPr>
              <a:t> due to </a:t>
            </a:r>
            <a:r>
              <a:rPr lang="en-US" altLang="zh-CN" dirty="0">
                <a:latin typeface="+mn-lt"/>
                <a:cs typeface="+mn-lt"/>
              </a:rPr>
              <a:t>Insufficient clinician awareness and accessible, low-cost screening tools</a:t>
            </a:r>
            <a:r>
              <a:rPr lang="en-US" altLang="zh-CN" baseline="30000" dirty="0">
                <a:latin typeface="+mn-lt"/>
                <a:cs typeface="+mn-lt"/>
              </a:rPr>
              <a:t>(5)</a:t>
            </a:r>
            <a:endParaRPr lang="en-US" altLang="zh-CN" baseline="30000" dirty="0">
              <a:latin typeface="+mn-lt"/>
              <a:cs typeface="+mn-lt"/>
            </a:endParaRPr>
          </a:p>
          <a:p>
            <a:endParaRPr lang="en-US" altLang="zh-CN" baseline="30000" dirty="0">
              <a:latin typeface="+mn-lt"/>
              <a:cs typeface="+mn-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365" y="228391"/>
            <a:ext cx="11176000" cy="1147631"/>
          </a:xfrm>
        </p:spPr>
        <p:txBody>
          <a:bodyPr>
            <a:normAutofit/>
          </a:bodyPr>
          <a:lstStyle/>
          <a:p>
            <a:r>
              <a:rPr lang="en-US" altLang="zh-CN" sz="3600" dirty="0">
                <a:latin typeface="+mj-lt"/>
                <a:cs typeface="+mj-lt"/>
              </a:rPr>
              <a:t>Current Diagnostic Methods – Trade-offs</a:t>
            </a:r>
            <a:endParaRPr lang="en-US" altLang="zh-CN" sz="3600" dirty="0">
              <a:latin typeface="+mj-lt"/>
              <a:cs typeface="+mj-lt"/>
            </a:endParaRPr>
          </a:p>
        </p:txBody>
      </p:sp>
      <p:sp>
        <p:nvSpPr>
          <p:cNvPr id="3" name="Content Placeholder 2"/>
          <p:cNvSpPr>
            <a:spLocks noGrp="1"/>
          </p:cNvSpPr>
          <p:nvPr>
            <p:ph sz="quarter" idx="12"/>
          </p:nvPr>
        </p:nvSpPr>
        <p:spPr>
          <a:xfrm>
            <a:off x="408305" y="818515"/>
            <a:ext cx="11580495" cy="2225040"/>
          </a:xfrm>
        </p:spPr>
        <p:txBody>
          <a:bodyPr>
            <a:noAutofit/>
          </a:bodyPr>
          <a:lstStyle/>
          <a:p>
            <a:pPr algn="just">
              <a:lnSpc>
                <a:spcPct val="90000"/>
              </a:lnSpc>
            </a:pPr>
            <a:r>
              <a:rPr lang="en-US" altLang="zh-CN" dirty="0">
                <a:latin typeface="+mn-lt"/>
                <a:cs typeface="+mn-lt"/>
              </a:rPr>
              <a:t>Accurate diagnosis requires </a:t>
            </a:r>
            <a:r>
              <a:rPr lang="en-US" altLang="zh-CN" dirty="0">
                <a:solidFill>
                  <a:schemeClr val="tx1"/>
                </a:solidFill>
                <a:latin typeface="+mn-lt"/>
                <a:cs typeface="+mn-lt"/>
              </a:rPr>
              <a:t>the integration of multimod</a:t>
            </a:r>
            <a:r>
              <a:rPr lang="en-US" altLang="zh-CN" dirty="0">
                <a:solidFill>
                  <a:schemeClr val="tx1"/>
                </a:solidFill>
                <a:latin typeface="+mn-lt"/>
                <a:cs typeface="+mn-lt"/>
              </a:rPr>
              <a:t>al information</a:t>
            </a:r>
            <a:r>
              <a:rPr lang="en-US" altLang="zh-CN" baseline="30000" dirty="0">
                <a:solidFill>
                  <a:schemeClr val="tx1"/>
                </a:solidFill>
                <a:latin typeface="+mn-lt"/>
                <a:cs typeface="+mn-lt"/>
              </a:rPr>
              <a:t>(9)</a:t>
            </a:r>
            <a:endParaRPr lang="en-US" altLang="zh-CN" baseline="30000" dirty="0">
              <a:solidFill>
                <a:schemeClr val="tx1"/>
              </a:solidFill>
              <a:latin typeface="+mn-lt"/>
              <a:cs typeface="+mn-lt"/>
            </a:endParaRPr>
          </a:p>
          <a:p>
            <a:pPr algn="just">
              <a:lnSpc>
                <a:spcPct val="90000"/>
              </a:lnSpc>
            </a:pPr>
            <a:r>
              <a:rPr lang="en-US" altLang="zh-CN" dirty="0">
                <a:solidFill>
                  <a:srgbClr val="FF0000"/>
                </a:solidFill>
                <a:latin typeface="+mn-lt"/>
                <a:cs typeface="+mn-lt"/>
              </a:rPr>
              <a:t>Pathologically key diagnostic clue: Intraocular masses with calcification.</a:t>
            </a:r>
            <a:r>
              <a:rPr lang="en-US" altLang="zh-CN" baseline="30000" dirty="0">
                <a:solidFill>
                  <a:srgbClr val="FF0000"/>
                </a:solidFill>
                <a:latin typeface="+mn-lt"/>
                <a:cs typeface="+mn-lt"/>
              </a:rPr>
              <a:t>(11)</a:t>
            </a:r>
            <a:endParaRPr lang="en-US" altLang="zh-CN" baseline="30000" dirty="0">
              <a:latin typeface="+mn-lt"/>
              <a:cs typeface="+mn-lt"/>
            </a:endParaRPr>
          </a:p>
          <a:p>
            <a:pPr algn="just">
              <a:lnSpc>
                <a:spcPct val="90000"/>
              </a:lnSpc>
            </a:pPr>
            <a:r>
              <a:rPr lang="en-US" altLang="zh-CN" dirty="0">
                <a:latin typeface="+mn-lt"/>
                <a:cs typeface="+mn-lt"/>
                <a:sym typeface="+mn-ea"/>
              </a:rPr>
              <a:t>Key Gap: Low detection rate for early-stage tumors (small size, low calcification) </a:t>
            </a:r>
            <a:r>
              <a:rPr lang="en-US" altLang="en-US" dirty="0">
                <a:latin typeface="+mn-lt"/>
                <a:cs typeface="+mn-lt"/>
                <a:sym typeface="+mn-ea"/>
              </a:rPr>
              <a:t>→</a:t>
            </a:r>
            <a:r>
              <a:rPr lang="en-US" altLang="zh-CN" dirty="0">
                <a:latin typeface="+mn-lt"/>
                <a:cs typeface="+mn-lt"/>
                <a:sym typeface="+mn-ea"/>
              </a:rPr>
              <a:t> false negatives</a:t>
            </a:r>
            <a:r>
              <a:rPr lang="en-US" altLang="zh-CN" baseline="30000" dirty="0">
                <a:latin typeface="+mn-lt"/>
                <a:cs typeface="+mn-lt"/>
                <a:sym typeface="+mn-ea"/>
              </a:rPr>
              <a:t>(15-19)</a:t>
            </a:r>
            <a:r>
              <a:rPr lang="en-US" altLang="zh-CN" dirty="0">
                <a:latin typeface="+mn-lt"/>
                <a:cs typeface="+mn-lt"/>
                <a:sym typeface="+mn-ea"/>
              </a:rPr>
              <a:t>	</a:t>
            </a:r>
            <a:endParaRPr lang="en-US" altLang="zh-CN" dirty="0">
              <a:latin typeface="+mn-lt"/>
              <a:cs typeface="+mn-lt"/>
              <a:sym typeface="+mn-ea"/>
            </a:endParaRPr>
          </a:p>
          <a:p>
            <a:pPr algn="just">
              <a:lnSpc>
                <a:spcPct val="90000"/>
              </a:lnSpc>
            </a:pPr>
            <a:r>
              <a:rPr lang="en-US" altLang="zh-CN" dirty="0">
                <a:latin typeface="+mn-lt"/>
                <a:cs typeface="+mn-lt"/>
              </a:rPr>
              <a:t>Patient Challenge:</a:t>
            </a:r>
            <a:r>
              <a:rPr lang="en-US" altLang="en-US" dirty="0">
                <a:latin typeface="+mn-lt"/>
                <a:cs typeface="+mn-lt"/>
              </a:rPr>
              <a:t> </a:t>
            </a:r>
            <a:r>
              <a:rPr lang="en-US" altLang="zh-CN" dirty="0">
                <a:latin typeface="+mn-lt"/>
                <a:cs typeface="+mn-lt"/>
              </a:rPr>
              <a:t>Young age leads to</a:t>
            </a:r>
            <a:r>
              <a:rPr lang="en-US" altLang="en-US" dirty="0">
                <a:latin typeface="+mn-lt"/>
                <a:cs typeface="+mn-lt"/>
              </a:rPr>
              <a:t> </a:t>
            </a:r>
            <a:r>
              <a:rPr lang="en-US" altLang="zh-CN" dirty="0">
                <a:latin typeface="+mn-lt"/>
                <a:cs typeface="+mn-lt"/>
              </a:rPr>
              <a:t>poor compliance, affecting exam quality.</a:t>
            </a:r>
            <a:endParaRPr lang="en-US" altLang="zh-CN" dirty="0">
              <a:latin typeface="+mn-lt"/>
              <a:cs typeface="+mn-lt"/>
            </a:endParaRPr>
          </a:p>
          <a:p>
            <a:pPr algn="just">
              <a:lnSpc>
                <a:spcPct val="90000"/>
              </a:lnSpc>
            </a:pPr>
            <a:endParaRPr lang="en-US" altLang="zh-CN" dirty="0">
              <a:latin typeface="+mn-lt"/>
              <a:cs typeface="+mn-lt"/>
            </a:endParaRPr>
          </a:p>
          <a:p>
            <a:pPr marL="0" indent="0" algn="just">
              <a:buNone/>
            </a:pPr>
            <a:endParaRPr lang="en-US" altLang="zh-CN" dirty="0">
              <a:latin typeface="+mn-lt"/>
              <a:cs typeface="+mn-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graphicFrame>
        <p:nvGraphicFramePr>
          <p:cNvPr id="8" name="表格 7"/>
          <p:cNvGraphicFramePr/>
          <p:nvPr>
            <p:custDataLst>
              <p:tags r:id="rId1"/>
            </p:custDataLst>
          </p:nvPr>
        </p:nvGraphicFramePr>
        <p:xfrm>
          <a:off x="1044575" y="2730500"/>
          <a:ext cx="10100945" cy="4127500"/>
        </p:xfrm>
        <a:graphic>
          <a:graphicData uri="http://schemas.openxmlformats.org/drawingml/2006/table">
            <a:tbl>
              <a:tblPr firstRow="1" bandRow="1">
                <a:tableStyleId>{5C22544A-7EE6-4342-B048-85BDC9FD1C3A}</a:tableStyleId>
              </a:tblPr>
              <a:tblGrid>
                <a:gridCol w="2082800"/>
                <a:gridCol w="4460875"/>
                <a:gridCol w="3557270"/>
              </a:tblGrid>
              <a:tr h="481965">
                <a:tc>
                  <a:txBody>
                    <a:bodyPr/>
                    <a:p>
                      <a:pPr algn="ctr">
                        <a:lnSpc>
                          <a:spcPts val="2500"/>
                        </a:lnSpc>
                      </a:pPr>
                      <a:r>
                        <a:rPr lang="en-US" altLang="zh-CN" sz="1800" b="1" i="0">
                          <a:solidFill>
                            <a:srgbClr val="0F1115"/>
                          </a:solidFill>
                          <a:ea typeface="quote-cjk-patch"/>
                          <a:cs typeface="+mn-lt"/>
                        </a:rPr>
                        <a:t>Method</a:t>
                      </a:r>
                      <a:endParaRPr lang="en-US" altLang="zh-CN" sz="1800" b="1" i="0">
                        <a:solidFill>
                          <a:srgbClr val="0F1115"/>
                        </a:solidFill>
                        <a:ea typeface="quote-cjk-patch"/>
                        <a:cs typeface="+mn-lt"/>
                      </a:endParaRPr>
                    </a:p>
                  </a:txBody>
                  <a:tcPr marL="0" marR="203517" marT="127317" marB="127317" anchor="ctr" anchorCtr="0"/>
                </a:tc>
                <a:tc>
                  <a:txBody>
                    <a:bodyPr/>
                    <a:p>
                      <a:pPr algn="ctr">
                        <a:lnSpc>
                          <a:spcPts val="2500"/>
                        </a:lnSpc>
                      </a:pPr>
                      <a:r>
                        <a:rPr lang="en-US" altLang="zh-CN" sz="1800" b="1" i="0">
                          <a:solidFill>
                            <a:srgbClr val="0F1115"/>
                          </a:solidFill>
                          <a:ea typeface="quote-cjk-patch"/>
                          <a:cs typeface="+mn-lt"/>
                        </a:rPr>
                        <a:t>Strengths</a:t>
                      </a:r>
                      <a:endParaRPr lang="en-US" altLang="zh-CN" sz="1800" b="1" i="0">
                        <a:solidFill>
                          <a:srgbClr val="0F1115"/>
                        </a:solidFill>
                        <a:ea typeface="quote-cjk-patch"/>
                        <a:cs typeface="+mn-lt"/>
                      </a:endParaRPr>
                    </a:p>
                  </a:txBody>
                  <a:tcPr marL="203517" marR="203517" marT="127317" marB="127317" anchor="ctr" anchorCtr="0"/>
                </a:tc>
                <a:tc>
                  <a:txBody>
                    <a:bodyPr/>
                    <a:p>
                      <a:pPr algn="ctr">
                        <a:lnSpc>
                          <a:spcPts val="2500"/>
                        </a:lnSpc>
                      </a:pPr>
                      <a:r>
                        <a:rPr lang="en-US" altLang="zh-CN" sz="1800" b="1" i="0">
                          <a:solidFill>
                            <a:srgbClr val="0F1115"/>
                          </a:solidFill>
                          <a:ea typeface="quote-cjk-patch"/>
                          <a:cs typeface="+mn-lt"/>
                        </a:rPr>
                        <a:t>Limitations</a:t>
                      </a:r>
                      <a:endParaRPr lang="en-US" altLang="zh-CN" sz="1800" b="1" i="0">
                        <a:solidFill>
                          <a:srgbClr val="0F1115"/>
                        </a:solidFill>
                        <a:ea typeface="quote-cjk-patch"/>
                        <a:cs typeface="+mn-lt"/>
                      </a:endParaRPr>
                    </a:p>
                  </a:txBody>
                  <a:tcPr marL="203517" marR="203517" marT="127317" marB="127317" anchor="ctr" anchorCtr="0"/>
                </a:tc>
              </a:tr>
              <a:tr h="889000">
                <a:tc>
                  <a:txBody>
                    <a:bodyPr/>
                    <a:p>
                      <a:pPr algn="ctr">
                        <a:lnSpc>
                          <a:spcPts val="2500"/>
                        </a:lnSpc>
                      </a:pPr>
                      <a:r>
                        <a:rPr lang="en-US" altLang="zh-CN" sz="1800" b="0" i="0">
                          <a:solidFill>
                            <a:srgbClr val="0F1115"/>
                          </a:solidFill>
                          <a:ea typeface="quote-cjk-patch"/>
                          <a:cs typeface="+mn-lt"/>
                        </a:rPr>
                        <a:t>Ultrasound</a:t>
                      </a:r>
                      <a:r>
                        <a:rPr lang="en-US" altLang="zh-CN" sz="1800" b="0" i="0" baseline="30000">
                          <a:solidFill>
                            <a:srgbClr val="0F1115"/>
                          </a:solidFill>
                          <a:ea typeface="quote-cjk-patch"/>
                          <a:cs typeface="+mn-lt"/>
                        </a:rPr>
                        <a:t>(12)</a:t>
                      </a:r>
                      <a:endParaRPr lang="en-US" altLang="zh-CN" sz="1800" b="0" i="0" baseline="30000">
                        <a:solidFill>
                          <a:srgbClr val="0F1115"/>
                        </a:solidFill>
                        <a:ea typeface="quote-cjk-patch"/>
                        <a:cs typeface="+mn-lt"/>
                      </a:endParaRPr>
                    </a:p>
                  </a:txBody>
                  <a:tcPr marL="0" marR="203517" marT="127317" marB="127317" anchor="ctr" anchorCtr="0"/>
                </a:tc>
                <a:tc>
                  <a:txBody>
                    <a:bodyPr/>
                    <a:p>
                      <a:pPr>
                        <a:lnSpc>
                          <a:spcPts val="2500"/>
                        </a:lnSpc>
                      </a:pPr>
                      <a:r>
                        <a:rPr lang="en-US" altLang="zh-CN" sz="1800" b="0" i="0">
                          <a:solidFill>
                            <a:srgbClr val="0F1115"/>
                          </a:solidFill>
                          <a:ea typeface="quote-cjk-patch"/>
                          <a:cs typeface="+mn-lt"/>
                        </a:rPr>
                        <a:t>Accessible, simple</a:t>
                      </a:r>
                      <a:endParaRPr lang="en-US" altLang="zh-CN" sz="1800" b="0" i="0">
                        <a:solidFill>
                          <a:srgbClr val="0F1115"/>
                        </a:solidFill>
                        <a:ea typeface="quote-cjk-patch"/>
                        <a:cs typeface="+mn-lt"/>
                      </a:endParaRPr>
                    </a:p>
                  </a:txBody>
                  <a:tcPr marL="203517" marR="203517" marT="127317" marB="127317" anchor="ctr" anchorCtr="0"/>
                </a:tc>
                <a:tc>
                  <a:txBody>
                    <a:bodyPr/>
                    <a:p>
                      <a:pPr>
                        <a:lnSpc>
                          <a:spcPts val="2500"/>
                        </a:lnSpc>
                      </a:pPr>
                      <a:r>
                        <a:rPr lang="en-US" altLang="zh-CN" sz="1800" b="0" i="0">
                          <a:solidFill>
                            <a:schemeClr val="tx1"/>
                          </a:solidFill>
                          <a:ea typeface="quote-cjk-patch"/>
                          <a:cs typeface="+mn-lt"/>
                        </a:rPr>
                        <a:t>Limited </a:t>
                      </a:r>
                      <a:r>
                        <a:rPr lang="en-US" altLang="zh-CN" sz="1800" b="0" i="0">
                          <a:solidFill>
                            <a:srgbClr val="0F1115"/>
                          </a:solidFill>
                          <a:ea typeface="quote-cjk-patch"/>
                          <a:cs typeface="+mn-lt"/>
                        </a:rPr>
                        <a:t>precision for calcifications</a:t>
                      </a:r>
                      <a:endParaRPr lang="en-US" altLang="zh-CN" sz="1800" b="0" i="0">
                        <a:solidFill>
                          <a:srgbClr val="0F1115"/>
                        </a:solidFill>
                        <a:ea typeface="quote-cjk-patch"/>
                        <a:cs typeface="+mn-lt"/>
                      </a:endParaRPr>
                    </a:p>
                  </a:txBody>
                  <a:tcPr marL="203517" marR="0" marT="127317" marB="127317" anchor="ctr" anchorCtr="0"/>
                </a:tc>
              </a:tr>
              <a:tr h="889000">
                <a:tc>
                  <a:txBody>
                    <a:bodyPr/>
                    <a:p>
                      <a:pPr algn="ctr">
                        <a:lnSpc>
                          <a:spcPts val="2500"/>
                        </a:lnSpc>
                      </a:pPr>
                      <a:r>
                        <a:rPr lang="en-US" altLang="zh-CN" sz="1800" b="0" i="0">
                          <a:solidFill>
                            <a:srgbClr val="0F1115"/>
                          </a:solidFill>
                          <a:ea typeface="quote-cjk-patch"/>
                          <a:cs typeface="+mn-lt"/>
                        </a:rPr>
                        <a:t>CT</a:t>
                      </a:r>
                      <a:r>
                        <a:rPr lang="en-US" altLang="zh-CN" sz="1800" b="0" i="0" baseline="30000">
                          <a:solidFill>
                            <a:srgbClr val="0F1115"/>
                          </a:solidFill>
                          <a:ea typeface="quote-cjk-patch"/>
                          <a:cs typeface="+mn-lt"/>
                        </a:rPr>
                        <a:t>(10,13)</a:t>
                      </a:r>
                      <a:endParaRPr lang="en-US" altLang="zh-CN" sz="1800" b="0" i="0" baseline="30000">
                        <a:solidFill>
                          <a:srgbClr val="0F1115"/>
                        </a:solidFill>
                        <a:ea typeface="quote-cjk-patch"/>
                        <a:cs typeface="+mn-lt"/>
                      </a:endParaRPr>
                    </a:p>
                  </a:txBody>
                  <a:tcPr marL="0" marR="203517" marT="127317" marB="127317" anchor="ctr" anchorCtr="0"/>
                </a:tc>
                <a:tc>
                  <a:txBody>
                    <a:bodyPr/>
                    <a:p>
                      <a:pPr>
                        <a:lnSpc>
                          <a:spcPts val="2500"/>
                        </a:lnSpc>
                      </a:pPr>
                      <a:r>
                        <a:rPr lang="en-US" altLang="zh-CN" sz="1800" b="0" i="0">
                          <a:solidFill>
                            <a:srgbClr val="0F1115"/>
                          </a:solidFill>
                          <a:ea typeface="quote-cjk-patch"/>
                          <a:cs typeface="+mn-lt"/>
                        </a:rPr>
                        <a:t>High sensitivity for calcification (~90%)</a:t>
                      </a:r>
                      <a:endParaRPr lang="en-US" altLang="zh-CN" sz="1800" b="0" i="0">
                        <a:solidFill>
                          <a:srgbClr val="0F1115"/>
                        </a:solidFill>
                        <a:ea typeface="quote-cjk-patch"/>
                        <a:cs typeface="+mn-lt"/>
                      </a:endParaRPr>
                    </a:p>
                  </a:txBody>
                  <a:tcPr marL="203517" marR="203517" marT="127317" marB="127317" anchor="ctr" anchorCtr="0"/>
                </a:tc>
                <a:tc>
                  <a:txBody>
                    <a:bodyPr/>
                    <a:p>
                      <a:pPr>
                        <a:lnSpc>
                          <a:spcPts val="2500"/>
                        </a:lnSpc>
                      </a:pPr>
                      <a:r>
                        <a:rPr lang="en-US" altLang="zh-CN" sz="1800" b="0" i="0">
                          <a:solidFill>
                            <a:srgbClr val="0F1115"/>
                          </a:solidFill>
                          <a:ea typeface="quote-cjk-patch"/>
                          <a:cs typeface="+mn-lt"/>
                        </a:rPr>
                        <a:t>Ionizing radiation </a:t>
                      </a:r>
                      <a:endParaRPr lang="en-US" altLang="zh-CN" sz="1800" b="0" i="0">
                        <a:solidFill>
                          <a:srgbClr val="0F1115"/>
                        </a:solidFill>
                        <a:ea typeface="quote-cjk-patch"/>
                        <a:cs typeface="+mn-lt"/>
                      </a:endParaRPr>
                    </a:p>
                    <a:p>
                      <a:pPr>
                        <a:lnSpc>
                          <a:spcPts val="2500"/>
                        </a:lnSpc>
                      </a:pPr>
                      <a:r>
                        <a:rPr lang="en-US" altLang="zh-CN" sz="1800" b="0" i="0">
                          <a:solidFill>
                            <a:srgbClr val="0F1115"/>
                          </a:solidFill>
                          <a:ea typeface="quote-cjk-patch"/>
                          <a:cs typeface="+mn-lt"/>
                        </a:rPr>
                        <a:t>(safety concern in children)</a:t>
                      </a:r>
                      <a:endParaRPr lang="en-US" altLang="zh-CN" sz="1800" b="0" i="0">
                        <a:solidFill>
                          <a:srgbClr val="0F1115"/>
                        </a:solidFill>
                        <a:ea typeface="quote-cjk-patch"/>
                        <a:cs typeface="+mn-lt"/>
                      </a:endParaRPr>
                    </a:p>
                  </a:txBody>
                  <a:tcPr marL="203517" marR="0" marT="127317" marB="127317" anchor="ctr" anchorCtr="0"/>
                </a:tc>
              </a:tr>
              <a:tr h="571500">
                <a:tc>
                  <a:txBody>
                    <a:bodyPr/>
                    <a:p>
                      <a:pPr algn="ctr">
                        <a:lnSpc>
                          <a:spcPts val="2500"/>
                        </a:lnSpc>
                      </a:pPr>
                      <a:r>
                        <a:rPr lang="en-US" altLang="zh-CN" sz="1800" b="0" i="0">
                          <a:solidFill>
                            <a:srgbClr val="0F1115"/>
                          </a:solidFill>
                          <a:ea typeface="quote-cjk-patch"/>
                          <a:cs typeface="+mn-lt"/>
                        </a:rPr>
                        <a:t>MRI</a:t>
                      </a:r>
                      <a:r>
                        <a:rPr lang="en-US" altLang="zh-CN" sz="1800" b="0" i="0" baseline="30000">
                          <a:solidFill>
                            <a:srgbClr val="0F1115"/>
                          </a:solidFill>
                          <a:ea typeface="quote-cjk-patch"/>
                          <a:cs typeface="+mn-lt"/>
                        </a:rPr>
                        <a:t>(14)</a:t>
                      </a:r>
                      <a:endParaRPr lang="en-US" altLang="zh-CN" sz="1800" b="0" i="0" baseline="30000">
                        <a:solidFill>
                          <a:srgbClr val="0F1115"/>
                        </a:solidFill>
                        <a:ea typeface="quote-cjk-patch"/>
                        <a:cs typeface="+mn-lt"/>
                      </a:endParaRPr>
                    </a:p>
                  </a:txBody>
                  <a:tcPr marL="0" marR="203517" marT="127317" marB="127317" anchor="ctr" anchorCtr="0"/>
                </a:tc>
                <a:tc>
                  <a:txBody>
                    <a:bodyPr/>
                    <a:p>
                      <a:pPr>
                        <a:lnSpc>
                          <a:spcPts val="2500"/>
                        </a:lnSpc>
                      </a:pPr>
                      <a:r>
                        <a:rPr lang="en-US" altLang="zh-CN" sz="1800" b="0" i="0">
                          <a:solidFill>
                            <a:srgbClr val="0F1115"/>
                          </a:solidFill>
                          <a:ea typeface="quote-cjk-patch"/>
                          <a:cs typeface="+mn-lt"/>
                        </a:rPr>
                        <a:t>Best for invasion/metastasis</a:t>
                      </a:r>
                      <a:endParaRPr lang="en-US" altLang="zh-CN" sz="1800" b="0" i="0">
                        <a:solidFill>
                          <a:srgbClr val="0F1115"/>
                        </a:solidFill>
                        <a:ea typeface="quote-cjk-patch"/>
                        <a:cs typeface="+mn-lt"/>
                      </a:endParaRPr>
                    </a:p>
                  </a:txBody>
                  <a:tcPr marL="203517" marR="203517" marT="127317" marB="127317" anchor="ctr" anchorCtr="0"/>
                </a:tc>
                <a:tc>
                  <a:txBody>
                    <a:bodyPr/>
                    <a:p>
                      <a:pPr>
                        <a:lnSpc>
                          <a:spcPts val="2500"/>
                        </a:lnSpc>
                      </a:pPr>
                      <a:r>
                        <a:rPr lang="en-US" altLang="zh-CN" sz="1800" b="0" i="0">
                          <a:solidFill>
                            <a:srgbClr val="0F1115"/>
                          </a:solidFill>
                          <a:ea typeface="quote-cjk-patch"/>
                          <a:cs typeface="+mn-lt"/>
                        </a:rPr>
                        <a:t>Less sensitive for tumor tissue</a:t>
                      </a:r>
                      <a:endParaRPr lang="en-US" altLang="zh-CN" sz="1800" b="0" i="0">
                        <a:solidFill>
                          <a:srgbClr val="0F1115"/>
                        </a:solidFill>
                        <a:ea typeface="quote-cjk-patch"/>
                        <a:cs typeface="+mn-lt"/>
                      </a:endParaRPr>
                    </a:p>
                  </a:txBody>
                  <a:tcPr marL="203517" marR="0" marT="127317" marB="127317" anchor="ctr" anchorCtr="0"/>
                </a:tc>
              </a:tr>
              <a:tr h="1206500">
                <a:tc>
                  <a:txBody>
                    <a:bodyPr/>
                    <a:p>
                      <a:pPr algn="ctr">
                        <a:lnSpc>
                          <a:spcPts val="2500"/>
                        </a:lnSpc>
                      </a:pPr>
                      <a:r>
                        <a:rPr lang="en-US" altLang="zh-CN" sz="1800" b="0" i="0">
                          <a:solidFill>
                            <a:schemeClr val="tx2"/>
                          </a:solidFill>
                          <a:ea typeface="quote-cjk-patch"/>
                          <a:cs typeface="+mn-lt"/>
                        </a:rPr>
                        <a:t>Fundus Photography</a:t>
                      </a:r>
                      <a:r>
                        <a:rPr lang="en-US" altLang="zh-CN" sz="1800" b="0" i="0" baseline="30000">
                          <a:solidFill>
                            <a:schemeClr val="tx2"/>
                          </a:solidFill>
                          <a:ea typeface="quote-cjk-patch"/>
                          <a:cs typeface="+mn-lt"/>
                        </a:rPr>
                        <a:t>(20-22)</a:t>
                      </a:r>
                      <a:endParaRPr lang="en-US" altLang="zh-CN" sz="1800" b="0" i="0" baseline="30000">
                        <a:solidFill>
                          <a:schemeClr val="tx2"/>
                        </a:solidFill>
                        <a:ea typeface="quote-cjk-patch"/>
                        <a:cs typeface="+mn-lt"/>
                      </a:endParaRPr>
                    </a:p>
                  </a:txBody>
                  <a:tcPr marL="0" marR="203517" marT="127317" marB="127317" anchor="ctr" anchorCtr="0"/>
                </a:tc>
                <a:tc>
                  <a:txBody>
                    <a:bodyPr/>
                    <a:p>
                      <a:pPr>
                        <a:lnSpc>
                          <a:spcPts val="2500"/>
                        </a:lnSpc>
                      </a:pPr>
                      <a:r>
                        <a:rPr lang="en-US" altLang="zh-CN" sz="1800" b="0" i="0">
                          <a:solidFill>
                            <a:schemeClr val="tx2"/>
                          </a:solidFill>
                          <a:ea typeface="quote-cjk-patch"/>
                          <a:cs typeface="+mn-lt"/>
                        </a:rPr>
                        <a:t>Non-invasive, effective screening </a:t>
                      </a:r>
                      <a:r>
                        <a:rPr lang="en-US" altLang="zh-CN" sz="1800" b="0" dirty="0">
                          <a:solidFill>
                            <a:schemeClr val="tx2"/>
                          </a:solidFill>
                          <a:cs typeface="+mn-lt"/>
                          <a:sym typeface="+mn-ea"/>
                        </a:rPr>
                        <a:t>occult, potentially blinding chronic eye diseases</a:t>
                      </a:r>
                      <a:endParaRPr lang="en-US" altLang="zh-CN" sz="1800" b="0" i="0" dirty="0">
                        <a:solidFill>
                          <a:schemeClr val="tx2"/>
                        </a:solidFill>
                        <a:ea typeface="quote-cjk-patch"/>
                        <a:cs typeface="+mn-lt"/>
                        <a:sym typeface="+mn-ea"/>
                      </a:endParaRPr>
                    </a:p>
                  </a:txBody>
                  <a:tcPr marL="203517" marR="203517" marT="127317" marB="127317" anchor="ctr" anchorCtr="0"/>
                </a:tc>
                <a:tc>
                  <a:txBody>
                    <a:bodyPr/>
                    <a:p>
                      <a:pPr>
                        <a:lnSpc>
                          <a:spcPts val="2500"/>
                        </a:lnSpc>
                      </a:pPr>
                      <a:r>
                        <a:rPr lang="en-US" altLang="zh-CN" sz="1800" b="0" i="0">
                          <a:solidFill>
                            <a:schemeClr val="tx2"/>
                          </a:solidFill>
                          <a:ea typeface="quote-cjk-patch"/>
                          <a:cs typeface="+mn-lt"/>
                        </a:rPr>
                        <a:t>Requires specialized expertise</a:t>
                      </a:r>
                      <a:endParaRPr lang="en-US" altLang="zh-CN" sz="1800" b="0" i="0">
                        <a:solidFill>
                          <a:schemeClr val="tx2"/>
                        </a:solidFill>
                        <a:ea typeface="quote-cjk-patch"/>
                        <a:cs typeface="+mn-lt"/>
                      </a:endParaRPr>
                    </a:p>
                  </a:txBody>
                  <a:tcPr marL="203517" marR="0" marT="127317" marB="127317" anchor="ctr" anchorCtr="0"/>
                </a:tc>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28391"/>
            <a:ext cx="11176000" cy="1147631"/>
          </a:xfrm>
        </p:spPr>
        <p:txBody>
          <a:bodyPr>
            <a:normAutofit/>
          </a:bodyPr>
          <a:lstStyle/>
          <a:p>
            <a:r>
              <a:rPr lang="en-US" altLang="zh-CN" sz="3600" dirty="0">
                <a:latin typeface="+mj-lt"/>
                <a:cs typeface="+mj-lt"/>
              </a:rPr>
              <a:t>Fundus </a:t>
            </a:r>
            <a:r>
              <a:rPr lang="en-US" altLang="zh-CN" sz="3600" dirty="0">
                <a:latin typeface="+mj-lt"/>
                <a:cs typeface="+mj-lt"/>
              </a:rPr>
              <a:t>Photography &amp; AI </a:t>
            </a:r>
            <a:endParaRPr lang="en-US" altLang="zh-CN"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pic>
        <p:nvPicPr>
          <p:cNvPr id="6" name="图片 5"/>
          <p:cNvPicPr>
            <a:picLocks noChangeAspect="1"/>
          </p:cNvPicPr>
          <p:nvPr/>
        </p:nvPicPr>
        <p:blipFill>
          <a:blip r:embed="rId1"/>
          <a:stretch>
            <a:fillRect/>
          </a:stretch>
        </p:blipFill>
        <p:spPr>
          <a:xfrm>
            <a:off x="292735" y="1271905"/>
            <a:ext cx="6725285" cy="4452620"/>
          </a:xfrm>
          <a:prstGeom prst="rect">
            <a:avLst/>
          </a:prstGeom>
        </p:spPr>
      </p:pic>
      <p:sp>
        <p:nvSpPr>
          <p:cNvPr id="7" name="文本框 6"/>
          <p:cNvSpPr txBox="1"/>
          <p:nvPr/>
        </p:nvSpPr>
        <p:spPr>
          <a:xfrm>
            <a:off x="7018020" y="1376045"/>
            <a:ext cx="5080000" cy="4278630"/>
          </a:xfrm>
          <a:prstGeom prst="rect">
            <a:avLst/>
          </a:prstGeom>
        </p:spPr>
        <p:txBody>
          <a:bodyPr>
            <a:noAutofit/>
          </a:bodyPr>
          <a:p>
            <a:pPr marL="0" indent="0" algn="just"/>
            <a:r>
              <a:rPr lang="en-US" altLang="zh-CN" sz="2000" b="1">
                <a:ea typeface="-apple-system"/>
                <a:cs typeface="+mn-lt"/>
                <a:sym typeface="+mn-ea"/>
              </a:rPr>
              <a:t>· Current studies</a:t>
            </a:r>
            <a:r>
              <a:rPr lang="en-US" altLang="zh-CN" sz="2000">
                <a:ea typeface="-apple-system"/>
                <a:cs typeface="+mn-lt"/>
                <a:sym typeface="+mn-ea"/>
              </a:rPr>
              <a:t> mainly use retrospective CNN(Convolutional Neur</a:t>
            </a:r>
            <a:r>
              <a:rPr lang="en-US" altLang="zh-CN" sz="2000">
                <a:ea typeface="-apple-system"/>
                <a:cs typeface="+mn-lt"/>
                <a:sym typeface="+mn-ea"/>
              </a:rPr>
              <a:t>al Network)-based deep learning models show impressive results.(AUC: 0.92-0.99)</a:t>
            </a:r>
            <a:endParaRPr lang="en-US" altLang="zh-CN" sz="2000">
              <a:ea typeface="-apple-system"/>
              <a:cs typeface="+mn-lt"/>
              <a:sym typeface="+mn-ea"/>
            </a:endParaRPr>
          </a:p>
          <a:p>
            <a:pPr marL="0" indent="0" algn="just"/>
            <a:endParaRPr lang="en-US" altLang="zh-CN" sz="2000" b="1" i="0">
              <a:ea typeface="-apple-system"/>
              <a:cs typeface="+mn-lt"/>
            </a:endParaRPr>
          </a:p>
          <a:p>
            <a:pPr marL="0" indent="0" algn="just"/>
            <a:r>
              <a:rPr lang="en-US" altLang="zh-CN" sz="2000" b="1" i="0">
                <a:ea typeface="-apple-system"/>
                <a:cs typeface="+mn-lt"/>
              </a:rPr>
              <a:t>· </a:t>
            </a:r>
            <a:r>
              <a:rPr lang="en-US" altLang="zh-CN" sz="2000" i="0">
                <a:ea typeface="-apple-system"/>
                <a:cs typeface="+mn-lt"/>
              </a:rPr>
              <a:t>AI excels at detecting obvious RB signs like leukocoria but often misses early-stage cases, </a:t>
            </a:r>
            <a:r>
              <a:rPr lang="en-US" altLang="zh-CN" sz="2000" dirty="0">
                <a:cs typeface="+mn-lt"/>
                <a:sym typeface="+mn-ea"/>
              </a:rPr>
              <a:t>so more accurate AI-assisted methods </a:t>
            </a:r>
            <a:r>
              <a:rPr lang="en-US" altLang="zh-CN" sz="2000" b="1" dirty="0">
                <a:cs typeface="+mn-lt"/>
                <a:sym typeface="+mn-ea"/>
              </a:rPr>
              <a:t>are still needed</a:t>
            </a:r>
            <a:r>
              <a:rPr lang="en-US" altLang="zh-CN" sz="2000" b="1" i="0">
                <a:ea typeface="-apple-system"/>
                <a:cs typeface="+mn-lt"/>
              </a:rPr>
              <a:t>.</a:t>
            </a:r>
            <a:endParaRPr lang="en-US" altLang="zh-CN" sz="2000" i="0">
              <a:ea typeface="-apple-system"/>
              <a:cs typeface="+mn-lt"/>
            </a:endParaRPr>
          </a:p>
          <a:p>
            <a:pPr marL="0" indent="0" algn="just"/>
            <a:endParaRPr lang="en-US" altLang="zh-CN" sz="2000" b="1" i="0">
              <a:ea typeface="-apple-system"/>
              <a:cs typeface="+mn-lt"/>
            </a:endParaRPr>
          </a:p>
          <a:p>
            <a:pPr marL="0" indent="0" algn="just"/>
            <a:r>
              <a:rPr lang="en-US" altLang="zh-CN" sz="2000" b="1" i="0">
                <a:ea typeface="-apple-system"/>
                <a:cs typeface="+mn-lt"/>
              </a:rPr>
              <a:t>· However,</a:t>
            </a:r>
            <a:r>
              <a:rPr lang="en-US" altLang="zh-CN" sz="2000" b="0" i="0">
                <a:ea typeface="-apple-system"/>
                <a:cs typeface="+mn-lt"/>
              </a:rPr>
              <a:t> </a:t>
            </a:r>
            <a:r>
              <a:rPr lang="en-US" altLang="zh-CN" sz="2000" b="1" i="1">
                <a:ea typeface="-apple-system"/>
                <a:cs typeface="+mn-lt"/>
              </a:rPr>
              <a:t>it requires massive datasets, incurs high computational costs, risks overfitting, and lacks interpretability due to its black-box nature</a:t>
            </a:r>
            <a:endParaRPr lang="en-US" altLang="zh-CN" sz="2000" b="1" i="1">
              <a:ea typeface="-apple-system"/>
              <a:cs typeface="+mn-lt"/>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173781"/>
            <a:ext cx="11176000" cy="1147631"/>
          </a:xfrm>
        </p:spPr>
        <p:txBody>
          <a:bodyPr>
            <a:normAutofit/>
          </a:bodyPr>
          <a:lstStyle/>
          <a:p>
            <a:r>
              <a:rPr lang="en-US" altLang="zh-CN" sz="3600" dirty="0">
                <a:latin typeface="+mj-lt"/>
                <a:cs typeface="+mj-lt"/>
              </a:rPr>
              <a:t> CNN vs LR</a:t>
            </a:r>
            <a:endParaRPr lang="en-US"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6" name="内容占位符 5"/>
          <p:cNvSpPr/>
          <p:nvPr>
            <p:ph sz="quarter" idx="12"/>
          </p:nvPr>
        </p:nvSpPr>
        <p:spPr>
          <a:xfrm>
            <a:off x="9347835" y="2195195"/>
            <a:ext cx="2844800" cy="4274820"/>
          </a:xfrm>
        </p:spPr>
        <p:txBody>
          <a:bodyPr>
            <a:noAutofit/>
          </a:bodyPr>
          <a:p>
            <a:pPr marL="0" indent="0" algn="just"/>
            <a:r>
              <a:rPr lang="en-US" altLang="zh-CN" sz="2000">
                <a:solidFill>
                  <a:schemeClr val="tx1"/>
                </a:solidFill>
                <a:ea typeface="-apple-system"/>
                <a:sym typeface="+mn-ea"/>
              </a:rPr>
              <a:t> DL automatically learns image features </a:t>
            </a:r>
            <a:endParaRPr lang="en-US" altLang="zh-CN" sz="2000">
              <a:solidFill>
                <a:schemeClr val="tx1"/>
              </a:solidFill>
              <a:ea typeface="-apple-system"/>
              <a:sym typeface="+mn-ea"/>
            </a:endParaRPr>
          </a:p>
          <a:p>
            <a:pPr marL="0" indent="0" algn="just"/>
            <a:endParaRPr lang="en-US" altLang="zh-CN" sz="2000">
              <a:ea typeface="-apple-system"/>
              <a:cs typeface="+mn-lt"/>
              <a:sym typeface="+mn-ea"/>
            </a:endParaRPr>
          </a:p>
          <a:p>
            <a:pPr marL="0" indent="0" algn="just"/>
            <a:r>
              <a:rPr lang="en-US" altLang="zh-CN" sz="2000">
                <a:latin typeface="+mn-lt"/>
                <a:cs typeface="+mn-lt"/>
                <a:sym typeface="+mn-ea"/>
              </a:rPr>
              <a:t> DL performs well but </a:t>
            </a:r>
            <a:r>
              <a:rPr lang="en-US" altLang="zh-CN" sz="2000" b="1">
                <a:solidFill>
                  <a:srgbClr val="FF0000"/>
                </a:solidFill>
                <a:latin typeface="+mn-lt"/>
                <a:cs typeface="+mn-lt"/>
              </a:rPr>
              <a:t>lack of interpretability is a major barrier to trust and adoption</a:t>
            </a:r>
            <a:r>
              <a:rPr lang="en-US" altLang="zh-CN" sz="2000" b="1" baseline="30000">
                <a:solidFill>
                  <a:srgbClr val="FF0000"/>
                </a:solidFill>
                <a:latin typeface="+mn-lt"/>
                <a:cs typeface="+mn-lt"/>
              </a:rPr>
              <a:t>(31-34)</a:t>
            </a:r>
            <a:endParaRPr lang="en-US" altLang="zh-CN" sz="2000" b="1" baseline="30000">
              <a:solidFill>
                <a:srgbClr val="FF0000"/>
              </a:solidFill>
              <a:latin typeface="+mn-lt"/>
              <a:cs typeface="+mn-lt"/>
            </a:endParaRPr>
          </a:p>
        </p:txBody>
      </p:sp>
      <p:pic>
        <p:nvPicPr>
          <p:cNvPr id="7" name="图片 6"/>
          <p:cNvPicPr>
            <a:picLocks noChangeAspect="1"/>
          </p:cNvPicPr>
          <p:nvPr/>
        </p:nvPicPr>
        <p:blipFill>
          <a:blip r:embed="rId1"/>
          <a:srcRect l="3203" t="3840" r="2564" b="7912"/>
          <a:stretch>
            <a:fillRect/>
          </a:stretch>
        </p:blipFill>
        <p:spPr>
          <a:xfrm>
            <a:off x="456565" y="1051560"/>
            <a:ext cx="8849995" cy="506539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150921"/>
            <a:ext cx="11176000" cy="1147631"/>
          </a:xfrm>
        </p:spPr>
        <p:txBody>
          <a:bodyPr>
            <a:normAutofit/>
          </a:bodyPr>
          <a:lstStyle/>
          <a:p>
            <a:r>
              <a:rPr lang="en-US" altLang="zh-CN" sz="3600" dirty="0">
                <a:latin typeface="+mj-lt"/>
                <a:cs typeface="+mj-lt"/>
              </a:rPr>
              <a:t>My Solution – Texture Analysis &amp; LR</a:t>
            </a:r>
            <a:endParaRPr lang="en-US" altLang="zh-CN" sz="3600" dirty="0">
              <a:latin typeface="+mj-lt"/>
              <a:cs typeface="+mj-lt"/>
            </a:endParaRPr>
          </a:p>
        </p:txBody>
      </p:sp>
      <p:sp>
        <p:nvSpPr>
          <p:cNvPr id="3" name="Content Placeholder 2"/>
          <p:cNvSpPr>
            <a:spLocks noGrp="1"/>
          </p:cNvSpPr>
          <p:nvPr>
            <p:ph sz="quarter" idx="12"/>
          </p:nvPr>
        </p:nvSpPr>
        <p:spPr>
          <a:xfrm>
            <a:off x="508000" y="965200"/>
            <a:ext cx="11176000" cy="5224780"/>
          </a:xfrm>
        </p:spPr>
        <p:txBody>
          <a:bodyPr>
            <a:noAutofit/>
          </a:bodyPr>
          <a:lstStyle/>
          <a:p>
            <a:pPr algn="just"/>
            <a:r>
              <a:rPr lang="en-US" altLang="zh-CN" b="1" dirty="0">
                <a:latin typeface="+mn-lt"/>
                <a:cs typeface="+mn-lt"/>
              </a:rPr>
              <a:t>What is texture analysis?</a:t>
            </a:r>
            <a:endParaRPr lang="en-US" altLang="zh-CN" b="1" dirty="0">
              <a:latin typeface="+mn-lt"/>
              <a:cs typeface="+mn-lt"/>
            </a:endParaRPr>
          </a:p>
          <a:p>
            <a:pPr marL="0" indent="0" algn="just">
              <a:buNone/>
            </a:pPr>
            <a:r>
              <a:rPr lang="en-US" altLang="zh-CN" dirty="0">
                <a:latin typeface="+mn-lt"/>
                <a:cs typeface="+mn-lt"/>
              </a:rPr>
              <a:t>     Texture: a set of </a:t>
            </a:r>
            <a:r>
              <a:rPr lang="en-US" altLang="zh-CN" b="1" dirty="0">
                <a:latin typeface="+mn-lt"/>
                <a:cs typeface="+mn-lt"/>
                <a:sym typeface="+mn-ea"/>
              </a:rPr>
              <a:t>quantifiable</a:t>
            </a:r>
            <a:r>
              <a:rPr lang="en-US" altLang="zh-CN" dirty="0">
                <a:latin typeface="+mn-lt"/>
                <a:cs typeface="+mn-lt"/>
                <a:sym typeface="+mn-ea"/>
              </a:rPr>
              <a:t>, intimate metrics</a:t>
            </a:r>
            <a:r>
              <a:rPr lang="en-US" altLang="zh-CN" dirty="0">
                <a:latin typeface="+mn-lt"/>
                <a:cs typeface="+mn-lt"/>
              </a:rPr>
              <a:t> of the </a:t>
            </a:r>
            <a:r>
              <a:rPr lang="en-US" altLang="zh-CN" dirty="0">
                <a:latin typeface="+mn-lt"/>
                <a:cs typeface="+mn-lt"/>
                <a:sym typeface="+mn-ea"/>
              </a:rPr>
              <a:t>images </a:t>
            </a:r>
            <a:r>
              <a:rPr lang="en-US" altLang="zh-CN" dirty="0">
                <a:latin typeface="+mn-lt"/>
                <a:cs typeface="+mn-lt"/>
              </a:rPr>
              <a:t>surface using a </a:t>
            </a:r>
            <a:r>
              <a:rPr lang="en-US" altLang="zh-CN" b="1" dirty="0">
                <a:latin typeface="+mn-lt"/>
                <a:cs typeface="+mn-lt"/>
              </a:rPr>
              <a:t>spatial arrangement of</a:t>
            </a:r>
            <a:r>
              <a:rPr lang="en-US" altLang="zh-CN" dirty="0">
                <a:latin typeface="+mn-lt"/>
                <a:cs typeface="+mn-lt"/>
              </a:rPr>
              <a:t> </a:t>
            </a:r>
            <a:r>
              <a:rPr lang="en-US" altLang="zh-CN" b="1" dirty="0">
                <a:latin typeface="+mn-lt"/>
                <a:cs typeface="+mn-lt"/>
              </a:rPr>
              <a:t>gray values</a:t>
            </a:r>
            <a:r>
              <a:rPr lang="en-US" altLang="zh-CN" dirty="0">
                <a:latin typeface="+mn-lt"/>
                <a:cs typeface="+mn-lt"/>
              </a:rPr>
              <a:t> to shows quantifies patterns, structures, and intensity variations in images, providing sufficient information from the point of human visual perception (contrast, roughness..)</a:t>
            </a:r>
            <a:r>
              <a:rPr lang="en-US" altLang="zh-CN" baseline="30000" dirty="0">
                <a:latin typeface="+mn-lt"/>
                <a:cs typeface="+mn-lt"/>
              </a:rPr>
              <a:t>(38)</a:t>
            </a:r>
            <a:endParaRPr lang="en-US" altLang="zh-CN" dirty="0">
              <a:latin typeface="+mn-lt"/>
              <a:cs typeface="+mn-lt"/>
            </a:endParaRPr>
          </a:p>
          <a:p>
            <a:pPr>
              <a:lnSpc>
                <a:spcPct val="40000"/>
              </a:lnSpc>
            </a:pPr>
            <a:endParaRPr lang="en-US" altLang="zh-CN" dirty="0">
              <a:latin typeface="+mn-lt"/>
              <a:cs typeface="+mn-lt"/>
            </a:endParaRPr>
          </a:p>
          <a:p>
            <a:r>
              <a:rPr lang="en-US" altLang="zh-CN" b="1" dirty="0">
                <a:latin typeface="+mn-lt"/>
                <a:cs typeface="+mn-lt"/>
              </a:rPr>
              <a:t>Advantages:</a:t>
            </a:r>
            <a:endParaRPr lang="en-US" altLang="zh-CN" b="1" dirty="0">
              <a:latin typeface="+mn-lt"/>
              <a:cs typeface="+mn-lt"/>
            </a:endParaRPr>
          </a:p>
          <a:p>
            <a:pPr marL="0" indent="0">
              <a:lnSpc>
                <a:spcPct val="100000"/>
              </a:lnSpc>
              <a:buNone/>
            </a:pPr>
            <a:r>
              <a:rPr lang="en-US" altLang="en-US" dirty="0">
                <a:latin typeface="+mn-lt"/>
                <a:cs typeface="+mn-lt"/>
              </a:rPr>
              <a:t>✅</a:t>
            </a:r>
            <a:r>
              <a:rPr lang="en-US" altLang="zh-CN" dirty="0">
                <a:latin typeface="+mn-lt"/>
                <a:cs typeface="+mn-lt"/>
              </a:rPr>
              <a:t> </a:t>
            </a:r>
            <a:r>
              <a:rPr lang="en-US" altLang="zh-CN" dirty="0">
                <a:latin typeface="+mn-lt"/>
                <a:cs typeface="+mn-lt"/>
                <a:sym typeface="+mn-ea"/>
              </a:rPr>
              <a:t>Interpretable – Features have physical meaning (</a:t>
            </a:r>
            <a:r>
              <a:rPr lang="en-US" altLang="zh-CN" dirty="0">
                <a:latin typeface="+mn-lt"/>
                <a:cs typeface="+mn-lt"/>
              </a:rPr>
              <a:t>potentially link to underlying biology, such as tumor calcification or tissue density)</a:t>
            </a:r>
            <a:endParaRPr lang="en-US" altLang="zh-CN" dirty="0">
              <a:latin typeface="+mn-lt"/>
              <a:cs typeface="+mn-lt"/>
            </a:endParaRPr>
          </a:p>
          <a:p>
            <a:pPr marL="0" indent="0">
              <a:lnSpc>
                <a:spcPct val="100000"/>
              </a:lnSpc>
              <a:buNone/>
            </a:pPr>
            <a:r>
              <a:rPr lang="en-US" altLang="en-US" dirty="0">
                <a:latin typeface="+mn-lt"/>
                <a:cs typeface="+mn-lt"/>
              </a:rPr>
              <a:t>✅</a:t>
            </a:r>
            <a:r>
              <a:rPr lang="en-US" altLang="zh-CN" dirty="0">
                <a:latin typeface="+mn-lt"/>
                <a:cs typeface="+mn-lt"/>
              </a:rPr>
              <a:t> Multiple methods to choose</a:t>
            </a:r>
            <a:r>
              <a:rPr lang="zh-CN" altLang="en-US" dirty="0">
                <a:latin typeface="+mn-lt"/>
                <a:cs typeface="+mn-lt"/>
              </a:rPr>
              <a:t>（</a:t>
            </a:r>
            <a:r>
              <a:rPr lang="en-US" altLang="zh-CN" dirty="0">
                <a:latin typeface="+mn-lt"/>
                <a:cs typeface="+mn-lt"/>
              </a:rPr>
              <a:t>LBP</a:t>
            </a:r>
            <a:r>
              <a:rPr lang="zh-CN" altLang="en-US" dirty="0">
                <a:latin typeface="+mn-lt"/>
                <a:cs typeface="+mn-lt"/>
              </a:rPr>
              <a:t>、</a:t>
            </a:r>
            <a:r>
              <a:rPr lang="en-US" altLang="zh-CN" dirty="0">
                <a:latin typeface="+mn-lt"/>
                <a:cs typeface="+mn-lt"/>
              </a:rPr>
              <a:t>GLCM</a:t>
            </a:r>
            <a:r>
              <a:rPr lang="zh-CN" altLang="en-US" dirty="0">
                <a:latin typeface="+mn-lt"/>
                <a:cs typeface="+mn-lt"/>
              </a:rPr>
              <a:t>、</a:t>
            </a:r>
            <a:r>
              <a:rPr lang="en-US" altLang="zh-CN" dirty="0">
                <a:latin typeface="+mn-lt"/>
                <a:cs typeface="+mn-lt"/>
              </a:rPr>
              <a:t> FRACTAL</a:t>
            </a:r>
            <a:r>
              <a:rPr lang="zh-CN" altLang="en-US" dirty="0">
                <a:latin typeface="+mn-lt"/>
                <a:cs typeface="+mn-lt"/>
              </a:rPr>
              <a:t>、</a:t>
            </a:r>
            <a:r>
              <a:rPr lang="en-US" altLang="zh-CN" dirty="0">
                <a:latin typeface="+mn-lt"/>
                <a:cs typeface="+mn-lt"/>
              </a:rPr>
              <a:t> HOS... &gt;10</a:t>
            </a:r>
            <a:r>
              <a:rPr lang="zh-CN" altLang="en-US" dirty="0">
                <a:latin typeface="+mn-lt"/>
                <a:cs typeface="+mn-lt"/>
              </a:rPr>
              <a:t>）</a:t>
            </a:r>
            <a:endParaRPr lang="en-US" altLang="zh-CN" dirty="0">
              <a:latin typeface="+mn-lt"/>
              <a:cs typeface="+mn-lt"/>
            </a:endParaRPr>
          </a:p>
          <a:p>
            <a:pPr marL="0" indent="0">
              <a:lnSpc>
                <a:spcPct val="100000"/>
              </a:lnSpc>
              <a:buNone/>
            </a:pPr>
            <a:r>
              <a:rPr lang="en-US" altLang="en-US" dirty="0">
                <a:latin typeface="+mn-lt"/>
                <a:cs typeface="+mn-lt"/>
              </a:rPr>
              <a:t>✅</a:t>
            </a:r>
            <a:r>
              <a:rPr lang="en-US" altLang="zh-CN" dirty="0">
                <a:latin typeface="+mn-lt"/>
                <a:cs typeface="+mn-lt"/>
              </a:rPr>
              <a:t> </a:t>
            </a:r>
            <a:r>
              <a:rPr lang="en-US" altLang="zh-CN" dirty="0">
                <a:latin typeface="+mn-lt"/>
                <a:cs typeface="+mn-lt"/>
                <a:sym typeface="+mn-ea"/>
              </a:rPr>
              <a:t>Minimal preprocessing, Computationally efficient, Suitable for resource-limited settings</a:t>
            </a:r>
            <a:r>
              <a:rPr lang="en-US" altLang="zh-CN" baseline="30000" dirty="0">
                <a:latin typeface="+mn-lt"/>
                <a:cs typeface="+mn-lt"/>
                <a:sym typeface="+mn-ea"/>
              </a:rPr>
              <a:t>(35-36)</a:t>
            </a:r>
            <a:endParaRPr lang="en-US" altLang="zh-CN" dirty="0">
              <a:latin typeface="+mn-lt"/>
              <a:cs typeface="+mn-lt"/>
            </a:endParaRPr>
          </a:p>
          <a:p>
            <a:pPr marL="0" indent="0">
              <a:lnSpc>
                <a:spcPct val="100000"/>
              </a:lnSpc>
              <a:buNone/>
            </a:pPr>
            <a:r>
              <a:rPr lang="en-US" altLang="zh-CN" sz="2000" b="1" dirty="0">
                <a:latin typeface="+mn-lt"/>
                <a:cs typeface="+mn-lt"/>
              </a:rPr>
              <a:t>Texture analysis offers a middle ground—it quantifies image properties into measurable features that we can interpret and link to biology.</a:t>
            </a:r>
            <a:endParaRPr lang="en-US" altLang="zh-CN" sz="2000" b="1" dirty="0">
              <a:latin typeface="+mn-lt"/>
              <a:cs typeface="+mn-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4620"/>
            <a:ext cx="12798425" cy="1147445"/>
          </a:xfrm>
        </p:spPr>
        <p:txBody>
          <a:bodyPr>
            <a:normAutofit/>
          </a:bodyPr>
          <a:lstStyle/>
          <a:p>
            <a:r>
              <a:rPr lang="en-US" altLang="zh-CN" sz="3600" dirty="0">
                <a:latin typeface="+mj-lt"/>
                <a:cs typeface="+mj-lt"/>
              </a:rPr>
              <a:t> Intrested texture Method– </a:t>
            </a:r>
            <a:r>
              <a:rPr lang="en-US" altLang="zh-CN" sz="3600" dirty="0">
                <a:latin typeface="+mj-lt"/>
                <a:cs typeface="+mj-lt"/>
                <a:sym typeface="+mn-ea"/>
              </a:rPr>
              <a:t>Local binary pattern</a:t>
            </a:r>
            <a:endParaRPr lang="en-US" altLang="zh-CN" sz="3600" dirty="0">
              <a:latin typeface="+mj-lt"/>
              <a:cs typeface="+mj-lt"/>
            </a:endParaRPr>
          </a:p>
        </p:txBody>
      </p:sp>
      <p:sp>
        <p:nvSpPr>
          <p:cNvPr id="3" name="Content Placeholder 2"/>
          <p:cNvSpPr>
            <a:spLocks noGrp="1"/>
          </p:cNvSpPr>
          <p:nvPr>
            <p:ph sz="quarter" idx="12"/>
          </p:nvPr>
        </p:nvSpPr>
        <p:spPr>
          <a:xfrm>
            <a:off x="548640" y="1005840"/>
            <a:ext cx="11053445" cy="5224780"/>
          </a:xfrm>
        </p:spPr>
        <p:txBody>
          <a:bodyPr>
            <a:noAutofit/>
          </a:bodyPr>
          <a:lstStyle/>
          <a:p>
            <a:pPr marL="0" indent="0" algn="just">
              <a:buNone/>
            </a:pPr>
            <a:r>
              <a:rPr lang="en-US" altLang="zh-CN" b="1" dirty="0">
                <a:latin typeface="+mn-lt"/>
                <a:cs typeface="+mn-lt"/>
              </a:rPr>
              <a:t>What is Local binary pattern-</a:t>
            </a:r>
            <a:r>
              <a:rPr lang="en-US" altLang="zh-CN" b="1" dirty="0">
                <a:latin typeface="+mn-lt"/>
                <a:cs typeface="+mn-lt"/>
                <a:sym typeface="+mn-ea"/>
              </a:rPr>
              <a:t>LBP</a:t>
            </a:r>
            <a:r>
              <a:rPr lang="en-US" altLang="zh-CN" b="1" dirty="0">
                <a:latin typeface="+mn-lt"/>
                <a:cs typeface="+mn-lt"/>
              </a:rPr>
              <a:t>? why interseted in?</a:t>
            </a:r>
            <a:endParaRPr lang="en-US" altLang="zh-CN" b="1" dirty="0">
              <a:latin typeface="+mn-lt"/>
              <a:cs typeface="+mn-lt"/>
            </a:endParaRPr>
          </a:p>
          <a:p>
            <a:pPr algn="just"/>
            <a:r>
              <a:rPr lang="en-US" altLang="zh-CN" sz="2000" dirty="0">
                <a:solidFill>
                  <a:schemeClr val="tx1"/>
                </a:solidFill>
                <a:latin typeface="+mn-lt"/>
                <a:cs typeface="+mn-lt"/>
                <a:sym typeface="+mn-ea"/>
              </a:rPr>
              <a:t>LBP is a statistical method that </a:t>
            </a:r>
            <a:r>
              <a:rPr lang="en-US" altLang="zh-CN" sz="2000" b="1" dirty="0">
                <a:solidFill>
                  <a:srgbClr val="FF0000"/>
                </a:solidFill>
                <a:latin typeface="+mn-lt"/>
                <a:cs typeface="+mn-lt"/>
                <a:sym typeface="+mn-ea"/>
              </a:rPr>
              <a:t>summarizes the local structure</a:t>
            </a:r>
            <a:r>
              <a:rPr lang="en-US" altLang="zh-CN" sz="2000" dirty="0">
                <a:solidFill>
                  <a:schemeClr val="tx1"/>
                </a:solidFill>
                <a:latin typeface="+mn-lt"/>
                <a:cs typeface="+mn-lt"/>
                <a:sym typeface="+mn-ea"/>
              </a:rPr>
              <a:t> of the image efficiently by comparing each pixel with all surrounding neighboring pixels</a:t>
            </a:r>
            <a:r>
              <a:rPr lang="en-US" altLang="zh-CN" sz="2000" baseline="30000" dirty="0">
                <a:solidFill>
                  <a:schemeClr val="tx1"/>
                </a:solidFill>
                <a:latin typeface="+mn-lt"/>
                <a:cs typeface="+mn-lt"/>
                <a:sym typeface="+mn-ea"/>
              </a:rPr>
              <a:t>(39)</a:t>
            </a:r>
            <a:endParaRPr lang="en-US" altLang="zh-CN" sz="2000" baseline="30000" dirty="0">
              <a:solidFill>
                <a:schemeClr val="tx1"/>
              </a:solidFill>
              <a:latin typeface="+mn-lt"/>
              <a:cs typeface="+mn-lt"/>
              <a:sym typeface="+mn-ea"/>
            </a:endParaRPr>
          </a:p>
          <a:p>
            <a:pPr algn="just"/>
            <a:r>
              <a:rPr lang="en-US" altLang="zh-CN" sz="2000" dirty="0">
                <a:solidFill>
                  <a:schemeClr val="tx1"/>
                </a:solidFill>
                <a:latin typeface="+mn-lt"/>
                <a:cs typeface="+mn-lt"/>
                <a:sym typeface="+mn-ea"/>
              </a:rPr>
              <a:t>The success of LBP in image analysis can be justified by the fact that in the Beijing Olympics 2008 Chinese officials use the LBP technique for </a:t>
            </a:r>
            <a:r>
              <a:rPr lang="en-US" altLang="zh-CN" sz="2000" b="1" dirty="0">
                <a:solidFill>
                  <a:srgbClr val="FF0000"/>
                </a:solidFill>
                <a:latin typeface="+mn-lt"/>
                <a:cs typeface="+mn-lt"/>
                <a:sym typeface="+mn-ea"/>
              </a:rPr>
              <a:t>biometric verification of a huge mass of visitors </a:t>
            </a:r>
            <a:r>
              <a:rPr lang="en-US" altLang="zh-CN" sz="2000" dirty="0">
                <a:solidFill>
                  <a:schemeClr val="tx1"/>
                </a:solidFill>
                <a:latin typeface="+mn-lt"/>
                <a:cs typeface="+mn-lt"/>
                <a:sym typeface="+mn-ea"/>
              </a:rPr>
              <a:t>from the whole world.</a:t>
            </a:r>
            <a:endParaRPr lang="en-US" altLang="zh-CN" sz="2000" dirty="0">
              <a:solidFill>
                <a:schemeClr val="tx1"/>
              </a:solidFill>
              <a:latin typeface="+mn-lt"/>
              <a:cs typeface="+mn-lt"/>
              <a:sym typeface="+mn-ea"/>
            </a:endParaRPr>
          </a:p>
          <a:p>
            <a:pPr algn="just"/>
            <a:r>
              <a:rPr lang="en-US" altLang="zh-CN" sz="2000" b="1">
                <a:solidFill>
                  <a:srgbClr val="FF0000"/>
                </a:solidFill>
                <a:sym typeface="+mn-ea"/>
              </a:rPr>
              <a:t>biologically plausible</a:t>
            </a:r>
            <a:r>
              <a:rPr lang="zh-CN" altLang="en-US" sz="2000" b="1">
                <a:sym typeface="+mn-ea"/>
              </a:rPr>
              <a:t>：</a:t>
            </a:r>
            <a:r>
              <a:rPr lang="en-US" altLang="zh-CN" sz="2000" b="1" dirty="0">
                <a:solidFill>
                  <a:schemeClr val="tx1"/>
                </a:solidFill>
                <a:latin typeface="+mn-lt"/>
                <a:cs typeface="+mn-lt"/>
                <a:sym typeface="+mn-ea"/>
              </a:rPr>
              <a:t>Key diagnostic clue is intraocular masses with calcification</a:t>
            </a:r>
            <a:r>
              <a:rPr lang="zh-CN" altLang="en-US" sz="2000" b="1" dirty="0">
                <a:solidFill>
                  <a:schemeClr val="tx1"/>
                </a:solidFill>
                <a:latin typeface="+mn-lt"/>
                <a:cs typeface="+mn-lt"/>
                <a:sym typeface="+mn-ea"/>
              </a:rPr>
              <a:t>，</a:t>
            </a:r>
            <a:r>
              <a:rPr lang="en-US" altLang="zh-CN" sz="2000" dirty="0">
                <a:solidFill>
                  <a:schemeClr val="tx1"/>
                </a:solidFill>
                <a:latin typeface="+mn-lt"/>
                <a:cs typeface="+mn-lt"/>
                <a:sym typeface="+mn-ea"/>
              </a:rPr>
              <a:t>LBP may </a:t>
            </a:r>
            <a:r>
              <a:rPr lang="en-US" altLang="zh-CN" sz="2000" dirty="0">
                <a:solidFill>
                  <a:schemeClr val="tx1"/>
                </a:solidFill>
                <a:latin typeface="+mn-lt"/>
                <a:cs typeface="+mn-lt"/>
                <a:sym typeface="+mn-ea"/>
              </a:rPr>
              <a:t>highly sensitive to local microstructures (such as microcalcifications and microvascular clusters)</a:t>
            </a:r>
            <a:endParaRPr lang="en-US" altLang="zh-CN" sz="2000" dirty="0">
              <a:solidFill>
                <a:schemeClr val="tx1"/>
              </a:solidFill>
              <a:latin typeface="+mn-lt"/>
              <a:cs typeface="+mn-lt"/>
              <a:sym typeface="+mn-ea"/>
            </a:endParaRPr>
          </a:p>
          <a:p>
            <a:pPr algn="just"/>
            <a:endParaRPr lang="en-US" altLang="zh-CN" sz="2000" dirty="0">
              <a:solidFill>
                <a:schemeClr val="tx1"/>
              </a:solidFill>
              <a:latin typeface="+mn-lt"/>
              <a:cs typeface="+mn-lt"/>
              <a:sym typeface="+mn-ea"/>
            </a:endParaRPr>
          </a:p>
          <a:p>
            <a:pPr marL="0" indent="0" algn="just">
              <a:buNone/>
            </a:pPr>
            <a:r>
              <a:rPr lang="en-US" altLang="zh-CN" sz="2000" b="1" dirty="0">
                <a:latin typeface="+mn-lt"/>
                <a:cs typeface="+mn-lt"/>
              </a:rPr>
              <a:t>Advantages</a:t>
            </a:r>
            <a:r>
              <a:rPr lang="en-US" altLang="zh-CN" sz="2000" b="1" baseline="30000" dirty="0">
                <a:latin typeface="+mn-lt"/>
                <a:cs typeface="+mn-lt"/>
              </a:rPr>
              <a:t>(39)</a:t>
            </a:r>
            <a:endParaRPr lang="en-US" altLang="zh-CN" sz="2000" b="1" dirty="0">
              <a:latin typeface="+mn-lt"/>
              <a:cs typeface="+mn-lt"/>
            </a:endParaRPr>
          </a:p>
          <a:p>
            <a:pPr marL="0" indent="0" algn="just">
              <a:buNone/>
            </a:pPr>
            <a:r>
              <a:rPr lang="en-US" altLang="zh-CN" sz="2000" b="1" dirty="0">
                <a:latin typeface="+mn-lt"/>
                <a:cs typeface="+mn-lt"/>
              </a:rPr>
              <a:t>a. It is having high discriminative power.</a:t>
            </a:r>
            <a:endParaRPr lang="en-US" altLang="zh-CN" sz="2000" b="1" dirty="0">
              <a:latin typeface="+mn-lt"/>
              <a:cs typeface="+mn-lt"/>
            </a:endParaRPr>
          </a:p>
          <a:p>
            <a:pPr marL="0" indent="0" algn="just">
              <a:buNone/>
            </a:pPr>
            <a:r>
              <a:rPr lang="en-US" altLang="zh-CN" sz="2000" b="1" dirty="0">
                <a:latin typeface="+mn-lt"/>
                <a:cs typeface="+mn-lt"/>
              </a:rPr>
              <a:t>b. It is having computational simplicity.</a:t>
            </a:r>
            <a:endParaRPr lang="en-US" altLang="zh-CN" sz="2000" b="1" dirty="0">
              <a:latin typeface="+mn-lt"/>
              <a:cs typeface="+mn-lt"/>
            </a:endParaRPr>
          </a:p>
          <a:p>
            <a:pPr marL="0" indent="0" algn="just">
              <a:buNone/>
            </a:pPr>
            <a:r>
              <a:rPr lang="en-US" altLang="zh-CN" sz="2000" b="1" dirty="0">
                <a:latin typeface="+mn-lt"/>
                <a:cs typeface="+mn-lt"/>
              </a:rPr>
              <a:t>c. It is invariant to grayscale changes.</a:t>
            </a:r>
            <a:endParaRPr lang="en-US" altLang="zh-CN" sz="2000" b="1" dirty="0">
              <a:latin typeface="+mn-lt"/>
              <a:cs typeface="+mn-lt"/>
            </a:endParaRPr>
          </a:p>
          <a:p>
            <a:pPr marL="0" indent="0">
              <a:buNone/>
            </a:pPr>
            <a:endParaRPr lang="en-US" altLang="zh-CN" sz="2000" b="1" dirty="0">
              <a:latin typeface="+mn-lt"/>
              <a:cs typeface="+mn-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pic>
        <p:nvPicPr>
          <p:cNvPr id="5" name="图片 4"/>
          <p:cNvPicPr>
            <a:picLocks noChangeAspect="1"/>
          </p:cNvPicPr>
          <p:nvPr/>
        </p:nvPicPr>
        <p:blipFill>
          <a:blip r:embed="rId1"/>
          <a:stretch>
            <a:fillRect/>
          </a:stretch>
        </p:blipFill>
        <p:spPr>
          <a:xfrm>
            <a:off x="6620510" y="4460240"/>
            <a:ext cx="5088255" cy="172910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81096"/>
            <a:ext cx="11176000" cy="1147631"/>
          </a:xfrm>
        </p:spPr>
        <p:txBody>
          <a:bodyPr>
            <a:normAutofit fontScale="90000"/>
          </a:bodyPr>
          <a:lstStyle/>
          <a:p>
            <a:r>
              <a:rPr lang="en-US" altLang="zh-CN" sz="4000" dirty="0">
                <a:latin typeface="+mj-lt"/>
                <a:cs typeface="+mj-lt"/>
              </a:rPr>
              <a:t>Research Question &amp; Objectives &amp; Hypothesis</a:t>
            </a:r>
            <a:endParaRPr lang="en-US" altLang="zh-CN" sz="40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7" name="文本框 6"/>
          <p:cNvSpPr txBox="1"/>
          <p:nvPr/>
        </p:nvSpPr>
        <p:spPr>
          <a:xfrm>
            <a:off x="508000" y="975995"/>
            <a:ext cx="11377930" cy="4241800"/>
          </a:xfrm>
          <a:prstGeom prst="rect">
            <a:avLst/>
          </a:prstGeom>
        </p:spPr>
        <p:txBody>
          <a:bodyPr wrap="square">
            <a:noAutofit/>
          </a:bodyPr>
          <a:p>
            <a:pPr marL="0" indent="0">
              <a:spcBef>
                <a:spcPts val="1600"/>
              </a:spcBef>
              <a:spcAft>
                <a:spcPts val="1600"/>
              </a:spcAft>
            </a:pPr>
            <a:r>
              <a:rPr lang="en-US" altLang="zh-CN" sz="2400" b="1" i="0">
                <a:solidFill>
                  <a:schemeClr val="tx1"/>
                </a:solidFill>
                <a:ea typeface="quote-cjk-patch"/>
                <a:cs typeface="+mn-lt"/>
              </a:rPr>
              <a:t>Primary Question:</a:t>
            </a:r>
            <a:endParaRPr lang="en-US" altLang="zh-CN" sz="2400" b="1" i="0">
              <a:solidFill>
                <a:schemeClr val="tx1"/>
              </a:solidFill>
              <a:ea typeface="quote-cjk-patch"/>
              <a:cs typeface="+mn-lt"/>
            </a:endParaRPr>
          </a:p>
          <a:p>
            <a:pPr marL="0" indent="0">
              <a:spcBef>
                <a:spcPct val="0"/>
              </a:spcBef>
              <a:spcAft>
                <a:spcPct val="0"/>
              </a:spcAft>
              <a:buFont typeface="Arial" panose="020B0604020202090204"/>
              <a:buChar char="•"/>
            </a:pPr>
            <a:r>
              <a:rPr lang="en-US" altLang="zh-CN" sz="2400" b="0" i="0">
                <a:solidFill>
                  <a:schemeClr val="tx1"/>
                </a:solidFill>
                <a:ea typeface="quote-cjk-patch"/>
                <a:cs typeface="+mn-lt"/>
              </a:rPr>
              <a:t>Can we explore an </a:t>
            </a:r>
            <a:r>
              <a:rPr lang="en-US" altLang="zh-CN" sz="2400" b="0" i="0">
                <a:solidFill>
                  <a:schemeClr val="tx1"/>
                </a:solidFill>
                <a:ea typeface="quote-cjk-patch"/>
                <a:cs typeface="+mn-lt"/>
              </a:rPr>
              <a:t>alternative interpretable texture-based logistic regression </a:t>
            </a:r>
            <a:r>
              <a:rPr lang="en-US" altLang="zh-CN" sz="2400" b="0" i="0">
                <a:solidFill>
                  <a:schemeClr val="tx1"/>
                </a:solidFill>
                <a:ea typeface="quote-cjk-patch"/>
                <a:cs typeface="+mn-lt"/>
              </a:rPr>
              <a:t>model for RB that performs well compara to CNN ?</a:t>
            </a:r>
            <a:endParaRPr lang="en-US" altLang="zh-CN" sz="2400" b="0" i="0">
              <a:solidFill>
                <a:schemeClr val="tx1"/>
              </a:solidFill>
              <a:ea typeface="quote-cjk-patch"/>
              <a:cs typeface="+mn-lt"/>
            </a:endParaRPr>
          </a:p>
          <a:p>
            <a:pPr marL="0" indent="0">
              <a:spcBef>
                <a:spcPts val="1600"/>
              </a:spcBef>
              <a:spcAft>
                <a:spcPts val="1600"/>
              </a:spcAft>
            </a:pPr>
            <a:r>
              <a:rPr lang="en-US" altLang="zh-CN" sz="2400" b="1" i="0">
                <a:solidFill>
                  <a:schemeClr val="tx1"/>
                </a:solidFill>
                <a:ea typeface="quote-cjk-patch"/>
                <a:cs typeface="+mn-lt"/>
              </a:rPr>
              <a:t>Secondary Questions:</a:t>
            </a:r>
            <a:endParaRPr lang="en-US" altLang="zh-CN" sz="2400" b="1" i="0">
              <a:solidFill>
                <a:schemeClr val="tx1"/>
              </a:solidFill>
              <a:ea typeface="quote-cjk-patch"/>
              <a:cs typeface="+mn-lt"/>
            </a:endParaRPr>
          </a:p>
          <a:p>
            <a:pPr marL="0" indent="0">
              <a:spcBef>
                <a:spcPct val="0"/>
              </a:spcBef>
              <a:spcAft>
                <a:spcPts val="800"/>
              </a:spcAft>
              <a:buFont typeface="Arial" panose="020B0604020202090204"/>
              <a:buChar char="•"/>
            </a:pPr>
            <a:r>
              <a:rPr lang="en-US" altLang="zh-CN" sz="2400" b="0" i="0">
                <a:solidFill>
                  <a:schemeClr val="tx1"/>
                </a:solidFill>
                <a:ea typeface="quote-cjk-patch"/>
                <a:cs typeface="+mn-lt"/>
              </a:rPr>
              <a:t>Which texture method performs best?</a:t>
            </a:r>
            <a:endParaRPr lang="en-US" altLang="zh-CN" sz="2400" b="0" i="0">
              <a:solidFill>
                <a:schemeClr val="tx1"/>
              </a:solidFill>
              <a:ea typeface="quote-cjk-patch"/>
              <a:cs typeface="+mn-lt"/>
            </a:endParaRPr>
          </a:p>
          <a:p>
            <a:pPr marL="0" lvl="1" indent="0">
              <a:spcBef>
                <a:spcPct val="0"/>
              </a:spcBef>
              <a:spcAft>
                <a:spcPct val="0"/>
              </a:spcAft>
              <a:buFont typeface="Arial" panose="020B0604020202090204"/>
              <a:buNone/>
            </a:pPr>
            <a:r>
              <a:rPr lang="en-US" altLang="zh-CN" sz="2400" b="0" i="0">
                <a:solidFill>
                  <a:schemeClr val="tx1"/>
                </a:solidFill>
                <a:ea typeface="quote-cjk-patch"/>
                <a:cs typeface="+mn-lt"/>
              </a:rPr>
              <a:t> LBP vs. Haralick vs. Fractal analysis vs. HOS vs. Combine</a:t>
            </a:r>
            <a:endParaRPr lang="en-US" altLang="zh-CN" sz="2400" b="0" i="0">
              <a:solidFill>
                <a:schemeClr val="tx1"/>
              </a:solidFill>
              <a:ea typeface="quote-cjk-patch"/>
              <a:cs typeface="+mn-lt"/>
            </a:endParaRPr>
          </a:p>
          <a:p>
            <a:pPr marL="0" lvl="1" indent="0">
              <a:lnSpc>
                <a:spcPct val="60000"/>
              </a:lnSpc>
              <a:spcBef>
                <a:spcPct val="0"/>
              </a:spcBef>
              <a:spcAft>
                <a:spcPct val="0"/>
              </a:spcAft>
              <a:buFont typeface="Arial" panose="020B0604020202090204"/>
              <a:buNone/>
            </a:pPr>
            <a:endParaRPr lang="en-US" altLang="zh-CN" sz="2400" b="0" i="0">
              <a:solidFill>
                <a:schemeClr val="tx1"/>
              </a:solidFill>
              <a:ea typeface="quote-cjk-patch"/>
              <a:cs typeface="+mn-lt"/>
            </a:endParaRPr>
          </a:p>
          <a:p>
            <a:pPr marL="0" indent="0">
              <a:spcBef>
                <a:spcPts val="1600"/>
              </a:spcBef>
              <a:spcAft>
                <a:spcPts val="1600"/>
              </a:spcAft>
            </a:pPr>
            <a:r>
              <a:rPr lang="en-US" altLang="zh-CN" sz="2400" b="1" i="0">
                <a:solidFill>
                  <a:schemeClr val="tx1"/>
                </a:solidFill>
                <a:ea typeface="quote-cjk-patch"/>
                <a:cs typeface="+mn-lt"/>
              </a:rPr>
              <a:t>Objective:</a:t>
            </a:r>
            <a:r>
              <a:rPr lang="en-US" altLang="zh-CN" sz="2400" b="0" i="0">
                <a:solidFill>
                  <a:schemeClr val="tx1"/>
                </a:solidFill>
                <a:ea typeface="quote-cjk-patch"/>
                <a:cs typeface="+mn-lt"/>
              </a:rPr>
              <a:t> My study aims to find an interpretable alternative to black-box AI and identify which texture methods best classify RB.</a:t>
            </a:r>
            <a:endParaRPr lang="en-US" altLang="zh-CN" sz="2400" b="0" i="0">
              <a:solidFill>
                <a:schemeClr val="tx1"/>
              </a:solidFill>
              <a:ea typeface="quote-cjk-patch"/>
              <a:cs typeface="+mn-lt"/>
            </a:endParaRPr>
          </a:p>
          <a:p>
            <a:pPr marL="0" indent="0">
              <a:spcBef>
                <a:spcPts val="1600"/>
              </a:spcBef>
              <a:spcAft>
                <a:spcPts val="1600"/>
              </a:spcAft>
            </a:pPr>
            <a:r>
              <a:rPr lang="en-US" altLang="zh-CN" sz="2400" b="1" i="0">
                <a:solidFill>
                  <a:schemeClr val="tx1"/>
                </a:solidFill>
                <a:ea typeface="quote-cjk-patch"/>
                <a:cs typeface="+mn-lt"/>
              </a:rPr>
              <a:t>Hypothesis</a:t>
            </a:r>
            <a:r>
              <a:rPr lang="en-US" altLang="zh-CN" sz="2400" b="0" i="0">
                <a:solidFill>
                  <a:schemeClr val="tx1"/>
                </a:solidFill>
                <a:ea typeface="quote-cjk-patch"/>
                <a:cs typeface="+mn-lt"/>
              </a:rPr>
              <a:t>: the performance of clinical texture-based regression model is not less than CNN model.</a:t>
            </a:r>
            <a:endParaRPr lang="en-US" altLang="zh-CN" sz="2400" b="0" i="0">
              <a:solidFill>
                <a:schemeClr val="tx1"/>
              </a:solidFill>
              <a:ea typeface="quote-cjk-patch"/>
              <a:cs typeface="+mn-lt"/>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173146"/>
            <a:ext cx="11176000" cy="1147631"/>
          </a:xfrm>
        </p:spPr>
        <p:txBody>
          <a:bodyPr>
            <a:normAutofit/>
          </a:bodyPr>
          <a:lstStyle/>
          <a:p>
            <a:r>
              <a:rPr lang="en-US" altLang="zh-CN" sz="3600" dirty="0">
                <a:latin typeface="+mj-lt"/>
                <a:cs typeface="+mj-lt"/>
              </a:rPr>
              <a:t>Study Design</a:t>
            </a:r>
            <a:endParaRPr lang="en-US" altLang="zh-CN"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pic>
        <p:nvPicPr>
          <p:cNvPr id="6" name="图片 5"/>
          <p:cNvPicPr>
            <a:picLocks noChangeAspect="1"/>
          </p:cNvPicPr>
          <p:nvPr/>
        </p:nvPicPr>
        <p:blipFill>
          <a:blip r:embed="rId1"/>
          <a:srcRect l="1993" t="2467" r="74360" b="10129"/>
          <a:stretch>
            <a:fillRect/>
          </a:stretch>
        </p:blipFill>
        <p:spPr>
          <a:xfrm>
            <a:off x="7036435" y="85725"/>
            <a:ext cx="4507230" cy="6108700"/>
          </a:xfrm>
          <a:prstGeom prst="rect">
            <a:avLst/>
          </a:prstGeom>
          <a:noFill/>
          <a:ln>
            <a:noFill/>
          </a:ln>
        </p:spPr>
      </p:pic>
      <p:sp>
        <p:nvSpPr>
          <p:cNvPr id="7" name="文本框 6"/>
          <p:cNvSpPr txBox="1"/>
          <p:nvPr/>
        </p:nvSpPr>
        <p:spPr>
          <a:xfrm>
            <a:off x="508000" y="1320800"/>
            <a:ext cx="7488555" cy="4373245"/>
          </a:xfrm>
          <a:prstGeom prst="rect">
            <a:avLst/>
          </a:prstGeom>
          <a:noFill/>
        </p:spPr>
        <p:txBody>
          <a:bodyPr wrap="square" rtlCol="0">
            <a:spAutoFit/>
          </a:bodyPr>
          <a:p>
            <a:pPr>
              <a:lnSpc>
                <a:spcPct val="160000"/>
              </a:lnSpc>
            </a:pPr>
            <a:r>
              <a:rPr lang="en-US" altLang="zh-CN" sz="2400" b="1">
                <a:cs typeface="+mn-lt"/>
              </a:rPr>
              <a:t>Study Unit</a:t>
            </a:r>
            <a:r>
              <a:rPr lang="zh-CN" altLang="en-US" sz="2400" b="1">
                <a:cs typeface="+mn-lt"/>
              </a:rPr>
              <a:t>：</a:t>
            </a:r>
            <a:r>
              <a:rPr lang="en-US" altLang="zh-CN" sz="2400">
                <a:cs typeface="+mn-lt"/>
              </a:rPr>
              <a:t>image</a:t>
            </a:r>
            <a:r>
              <a:rPr lang="zh-CN" altLang="en-US" sz="2400">
                <a:cs typeface="+mn-lt"/>
              </a:rPr>
              <a:t>（</a:t>
            </a:r>
            <a:r>
              <a:rPr lang="en-US" altLang="zh-CN" sz="2400">
                <a:cs typeface="+mn-lt"/>
              </a:rPr>
              <a:t>pixel</a:t>
            </a:r>
            <a:r>
              <a:rPr lang="zh-CN" altLang="en-US" sz="2400">
                <a:cs typeface="+mn-lt"/>
              </a:rPr>
              <a:t>）</a:t>
            </a:r>
            <a:endParaRPr lang="en-US" altLang="zh-CN" sz="2400">
              <a:cs typeface="+mn-lt"/>
            </a:endParaRPr>
          </a:p>
          <a:p>
            <a:pPr>
              <a:lnSpc>
                <a:spcPct val="160000"/>
              </a:lnSpc>
            </a:pPr>
            <a:r>
              <a:rPr lang="en-US" altLang="zh-CN" sz="2400" b="1">
                <a:cs typeface="+mn-lt"/>
              </a:rPr>
              <a:t>Sample size: </a:t>
            </a:r>
            <a:r>
              <a:rPr lang="en-US" altLang="zh-CN" sz="2400">
                <a:cs typeface="+mn-lt"/>
              </a:rPr>
              <a:t>765  (255 RB + 510 Normal)</a:t>
            </a:r>
            <a:endParaRPr lang="en-US" altLang="zh-CN" sz="2400">
              <a:cs typeface="+mn-lt"/>
            </a:endParaRPr>
          </a:p>
          <a:p>
            <a:pPr>
              <a:lnSpc>
                <a:spcPct val="160000"/>
              </a:lnSpc>
            </a:pPr>
            <a:r>
              <a:rPr lang="en-US" altLang="zh-CN" sz="2400" b="1">
                <a:cs typeface="+mn-lt"/>
              </a:rPr>
              <a:t>Study Design</a:t>
            </a:r>
            <a:r>
              <a:rPr lang="zh-CN" altLang="en-US" sz="2400" b="1">
                <a:cs typeface="+mn-lt"/>
              </a:rPr>
              <a:t>：</a:t>
            </a:r>
            <a:r>
              <a:rPr lang="en-US" altLang="zh-CN" sz="2400">
                <a:cs typeface="+mn-lt"/>
              </a:rPr>
              <a:t>retrospective case control study</a:t>
            </a:r>
            <a:endParaRPr lang="en-US" altLang="zh-CN" sz="2400">
              <a:cs typeface="+mn-lt"/>
            </a:endParaRPr>
          </a:p>
          <a:p>
            <a:pPr>
              <a:lnSpc>
                <a:spcPct val="160000"/>
              </a:lnSpc>
            </a:pPr>
            <a:r>
              <a:rPr lang="en-US" altLang="zh-CN" sz="2400" b="1">
                <a:cs typeface="+mn-lt"/>
              </a:rPr>
              <a:t>interested Exposure</a:t>
            </a:r>
            <a:r>
              <a:rPr lang="zh-CN" altLang="en-US" sz="2400">
                <a:cs typeface="+mn-lt"/>
              </a:rPr>
              <a:t>：</a:t>
            </a:r>
            <a:r>
              <a:rPr lang="en-US" altLang="zh-CN" sz="2400">
                <a:cs typeface="+mn-lt"/>
              </a:rPr>
              <a:t>LBP features</a:t>
            </a:r>
            <a:endParaRPr lang="zh-CN" altLang="en-US" sz="2400">
              <a:cs typeface="+mn-lt"/>
            </a:endParaRPr>
          </a:p>
          <a:p>
            <a:pPr>
              <a:lnSpc>
                <a:spcPct val="160000"/>
              </a:lnSpc>
            </a:pPr>
            <a:r>
              <a:rPr lang="en-US" altLang="zh-CN" sz="2400" b="1">
                <a:cs typeface="+mn-lt"/>
              </a:rPr>
              <a:t>Outcome</a:t>
            </a:r>
            <a:r>
              <a:rPr lang="zh-CN" altLang="en-US" sz="2400" b="1">
                <a:cs typeface="+mn-lt"/>
              </a:rPr>
              <a:t>：</a:t>
            </a:r>
            <a:r>
              <a:rPr lang="en-US" altLang="zh-CN" sz="2400">
                <a:cs typeface="+mn-lt"/>
              </a:rPr>
              <a:t>diagonal RB</a:t>
            </a:r>
            <a:endParaRPr lang="zh-CN" altLang="en-US" sz="2400">
              <a:cs typeface="+mn-lt"/>
            </a:endParaRPr>
          </a:p>
          <a:p>
            <a:pPr>
              <a:lnSpc>
                <a:spcPct val="160000"/>
              </a:lnSpc>
            </a:pPr>
            <a:r>
              <a:rPr lang="en-US" altLang="zh-CN" sz="2400" b="1">
                <a:cs typeface="+mn-lt"/>
              </a:rPr>
              <a:t>Covariate</a:t>
            </a:r>
            <a:r>
              <a:rPr lang="zh-CN" altLang="en-US" sz="2400" b="1">
                <a:cs typeface="+mn-lt"/>
              </a:rPr>
              <a:t>：</a:t>
            </a:r>
            <a:r>
              <a:rPr lang="en-US" altLang="zh-CN" sz="2400">
                <a:cs typeface="+mn-lt"/>
              </a:rPr>
              <a:t>other textures</a:t>
            </a:r>
            <a:endParaRPr lang="zh-CN" altLang="en-US" sz="2400">
              <a:cs typeface="+mn-lt"/>
            </a:endParaRPr>
          </a:p>
          <a:p>
            <a:endParaRPr lang="zh-CN" altLang="en-US" sz="2400">
              <a:cs typeface="+mn-lt"/>
            </a:endParaRPr>
          </a:p>
          <a:p>
            <a:endParaRPr lang="zh-CN" altLang="en-US" sz="2400">
              <a:cs typeface="+mn-l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380" y="15666"/>
            <a:ext cx="11176000" cy="1147631"/>
          </a:xfrm>
        </p:spPr>
        <p:txBody>
          <a:bodyPr>
            <a:normAutofit fontScale="90000"/>
          </a:bodyPr>
          <a:lstStyle/>
          <a:p>
            <a:r>
              <a:rPr lang="en-US" altLang="zh-CN" sz="4000" dirty="0">
                <a:latin typeface="+mj-lt"/>
                <a:cs typeface="+mj-lt"/>
              </a:rPr>
              <a:t>Image collection &amp; Annotation &amp; Quality Control</a:t>
            </a:r>
            <a:endParaRPr lang="en-US" altLang="zh-CN" sz="4000" dirty="0">
              <a:latin typeface="+mj-lt"/>
              <a:cs typeface="+mj-lt"/>
            </a:endParaRPr>
          </a:p>
        </p:txBody>
      </p:sp>
      <p:sp>
        <p:nvSpPr>
          <p:cNvPr id="3" name="Content Placeholder 2"/>
          <p:cNvSpPr>
            <a:spLocks noGrp="1"/>
          </p:cNvSpPr>
          <p:nvPr>
            <p:ph sz="quarter" idx="12"/>
          </p:nvPr>
        </p:nvSpPr>
        <p:spPr>
          <a:xfrm>
            <a:off x="6994525" y="783590"/>
            <a:ext cx="5173980" cy="5572760"/>
          </a:xfrm>
        </p:spPr>
        <p:txBody>
          <a:bodyPr>
            <a:noAutofit/>
          </a:bodyPr>
          <a:lstStyle/>
          <a:p>
            <a:pPr marL="0" indent="0" algn="just">
              <a:lnSpc>
                <a:spcPct val="90000"/>
              </a:lnSpc>
              <a:buNone/>
            </a:pPr>
            <a:r>
              <a:rPr lang="en-US" altLang="zh-CN" sz="2000" b="1" dirty="0">
                <a:latin typeface="+mn-lt"/>
                <a:cs typeface="+mn-lt"/>
              </a:rPr>
              <a:t>· </a:t>
            </a:r>
            <a:r>
              <a:rPr lang="en-US" altLang="zh-CN" sz="2000" i="1" dirty="0">
                <a:latin typeface="+mn-lt"/>
                <a:cs typeface="+mn-lt"/>
                <a:sym typeface="+mn-ea"/>
              </a:rPr>
              <a:t>Shenzhen </a:t>
            </a:r>
            <a:r>
              <a:rPr lang="en-US" altLang="zh-CN" sz="2000" dirty="0">
                <a:latin typeface="+mn-lt"/>
                <a:cs typeface="+mn-lt"/>
                <a:sym typeface="+mn-ea"/>
              </a:rPr>
              <a:t>Eye </a:t>
            </a:r>
            <a:r>
              <a:rPr lang="en-US" altLang="zh-CN" sz="2000" i="1" dirty="0">
                <a:latin typeface="+mn-lt"/>
                <a:cs typeface="+mn-lt"/>
                <a:sym typeface="+mn-ea"/>
              </a:rPr>
              <a:t>Hospital using  camera </a:t>
            </a:r>
            <a:r>
              <a:rPr lang="en-US" altLang="zh-CN" sz="2000" b="1" i="1" dirty="0">
                <a:latin typeface="+mn-lt"/>
                <a:cs typeface="+mn-lt"/>
                <a:sym typeface="+mn-ea"/>
              </a:rPr>
              <a:t>SLO</a:t>
            </a:r>
            <a:r>
              <a:rPr lang="en-US" altLang="zh-CN" sz="2000" b="1" i="1" baseline="30000" dirty="0">
                <a:latin typeface="+mn-lt"/>
                <a:cs typeface="+mn-lt"/>
                <a:sym typeface="+mn-ea"/>
              </a:rPr>
              <a:t>(9)  </a:t>
            </a:r>
            <a:r>
              <a:rPr lang="en-US" altLang="zh-CN" sz="2000" i="1" dirty="0">
                <a:latin typeface="+mn-lt"/>
                <a:cs typeface="+mn-lt"/>
              </a:rPr>
              <a:t>Within </a:t>
            </a:r>
            <a:r>
              <a:rPr lang="en-US" altLang="zh-CN" sz="2000" b="1" i="1" dirty="0">
                <a:solidFill>
                  <a:schemeClr val="tx2"/>
                </a:solidFill>
                <a:latin typeface="+mn-lt"/>
                <a:cs typeface="+mn-lt"/>
              </a:rPr>
              <a:t>5</a:t>
            </a:r>
            <a:r>
              <a:rPr lang="en-US" altLang="zh-CN" sz="2000" i="1" dirty="0">
                <a:latin typeface="+mn-lt"/>
                <a:cs typeface="+mn-lt"/>
              </a:rPr>
              <a:t> years(2019-2024),</a:t>
            </a:r>
            <a:endParaRPr lang="en-US" altLang="zh-CN" sz="2000" i="1" dirty="0">
              <a:latin typeface="+mn-lt"/>
              <a:cs typeface="+mn-lt"/>
            </a:endParaRPr>
          </a:p>
          <a:p>
            <a:pPr marL="0" indent="0" algn="just">
              <a:lnSpc>
                <a:spcPct val="90000"/>
              </a:lnSpc>
              <a:buNone/>
            </a:pPr>
            <a:r>
              <a:rPr lang="en-US" altLang="zh-CN" sz="2000" b="1" i="1" dirty="0">
                <a:solidFill>
                  <a:schemeClr val="tx2"/>
                </a:solidFill>
                <a:latin typeface="+mn-lt"/>
                <a:cs typeface="+mn-lt"/>
              </a:rPr>
              <a:t>· 255 </a:t>
            </a:r>
            <a:r>
              <a:rPr lang="en-US" altLang="zh-CN" sz="2000" i="1" dirty="0">
                <a:latin typeface="+mn-lt"/>
                <a:cs typeface="+mn-lt"/>
              </a:rPr>
              <a:t>UWF RB images from 22 patients and </a:t>
            </a:r>
            <a:r>
              <a:rPr lang="en-US" altLang="zh-CN" sz="2000" b="1" i="1" dirty="0">
                <a:solidFill>
                  <a:schemeClr val="tx2"/>
                </a:solidFill>
                <a:latin typeface="+mn-lt"/>
                <a:cs typeface="+mn-lt"/>
              </a:rPr>
              <a:t>1354</a:t>
            </a:r>
            <a:r>
              <a:rPr lang="en-US" altLang="zh-CN" sz="2000" b="1" i="1" dirty="0">
                <a:latin typeface="+mn-lt"/>
                <a:cs typeface="+mn-lt"/>
              </a:rPr>
              <a:t> </a:t>
            </a:r>
            <a:r>
              <a:rPr lang="en-US" altLang="zh-CN" sz="2000" i="1" dirty="0">
                <a:latin typeface="+mn-lt"/>
                <a:cs typeface="+mn-lt"/>
              </a:rPr>
              <a:t>healthy images from 124 patients </a:t>
            </a:r>
            <a:endParaRPr lang="en-US" altLang="zh-CN" sz="2000" i="1" dirty="0">
              <a:latin typeface="+mn-lt"/>
              <a:cs typeface="+mn-lt"/>
            </a:endParaRPr>
          </a:p>
          <a:p>
            <a:pPr marL="0" indent="0" algn="just">
              <a:lnSpc>
                <a:spcPct val="90000"/>
              </a:lnSpc>
              <a:buNone/>
            </a:pPr>
            <a:r>
              <a:rPr lang="en-US" altLang="zh-CN" sz="2000" b="1" i="1" dirty="0">
                <a:latin typeface="+mn-lt"/>
                <a:cs typeface="+mn-lt"/>
              </a:rPr>
              <a:t>· </a:t>
            </a:r>
            <a:r>
              <a:rPr lang="en-US" altLang="zh-CN" sz="2000" i="1" dirty="0">
                <a:latin typeface="+mn-lt"/>
                <a:cs typeface="+mn-lt"/>
              </a:rPr>
              <a:t>Simple random sampling at a case-control ratio of 1:2</a:t>
            </a:r>
            <a:r>
              <a:rPr lang="zh-CN" altLang="en-US" sz="2000" i="1" dirty="0">
                <a:latin typeface="+mn-lt"/>
                <a:cs typeface="+mn-lt"/>
              </a:rPr>
              <a:t>：</a:t>
            </a:r>
            <a:r>
              <a:rPr lang="en-US" altLang="zh-CN" sz="2000" b="1" i="1" dirty="0">
                <a:solidFill>
                  <a:schemeClr val="tx2"/>
                </a:solidFill>
                <a:latin typeface="+mn-lt"/>
                <a:cs typeface="+mn-lt"/>
              </a:rPr>
              <a:t>510 </a:t>
            </a:r>
            <a:r>
              <a:rPr lang="en-US" altLang="zh-CN" sz="2000" i="1" dirty="0">
                <a:latin typeface="+mn-lt"/>
                <a:cs typeface="+mn-lt"/>
              </a:rPr>
              <a:t>normal images.</a:t>
            </a:r>
            <a:endParaRPr lang="en-US" altLang="zh-CN" sz="2000" i="1" dirty="0">
              <a:latin typeface="+mn-lt"/>
              <a:cs typeface="+mn-lt"/>
            </a:endParaRPr>
          </a:p>
          <a:p>
            <a:pPr marL="0" indent="0" algn="just">
              <a:lnSpc>
                <a:spcPct val="90000"/>
              </a:lnSpc>
              <a:buNone/>
            </a:pPr>
            <a:endParaRPr lang="en-US" altLang="zh-CN" sz="2000" i="1" dirty="0">
              <a:latin typeface="+mn-lt"/>
              <a:cs typeface="+mn-lt"/>
            </a:endParaRPr>
          </a:p>
          <a:p>
            <a:pPr marL="0" indent="0" algn="just">
              <a:lnSpc>
                <a:spcPct val="90000"/>
              </a:lnSpc>
              <a:buNone/>
            </a:pPr>
            <a:r>
              <a:rPr lang="en-US" altLang="zh-CN" sz="2000" b="1" i="1" dirty="0">
                <a:latin typeface="+mn-lt"/>
                <a:cs typeface="+mn-lt"/>
              </a:rPr>
              <a:t>· </a:t>
            </a:r>
            <a:r>
              <a:rPr lang="en-US" altLang="zh-CN" sz="2000" i="1" dirty="0">
                <a:latin typeface="+mn-lt"/>
                <a:cs typeface="+mn-lt"/>
              </a:rPr>
              <a:t>Fundus images that were blocked, blurry, or unfocused were excluded</a:t>
            </a:r>
            <a:endParaRPr lang="en-US" altLang="zh-CN" sz="2000" i="1" dirty="0">
              <a:latin typeface="+mn-lt"/>
              <a:cs typeface="+mn-lt"/>
            </a:endParaRPr>
          </a:p>
          <a:p>
            <a:pPr marL="0" indent="0" algn="just">
              <a:lnSpc>
                <a:spcPct val="90000"/>
              </a:lnSpc>
              <a:buNone/>
            </a:pPr>
            <a:endParaRPr lang="en-US" altLang="zh-CN" sz="2000" i="1" dirty="0">
              <a:latin typeface="+mn-lt"/>
              <a:cs typeface="+mn-lt"/>
            </a:endParaRPr>
          </a:p>
          <a:p>
            <a:pPr marL="0" indent="0" algn="just">
              <a:lnSpc>
                <a:spcPct val="90000"/>
              </a:lnSpc>
              <a:buNone/>
            </a:pPr>
            <a:r>
              <a:rPr lang="en-US" altLang="zh-CN" sz="2000" b="1" i="1" dirty="0">
                <a:latin typeface="+mn-lt"/>
                <a:cs typeface="+mn-lt"/>
              </a:rPr>
              <a:t>· </a:t>
            </a:r>
            <a:r>
              <a:rPr lang="en-US" altLang="zh-CN" sz="2000" i="1" dirty="0">
                <a:latin typeface="+mn-lt"/>
                <a:cs typeface="+mn-lt"/>
              </a:rPr>
              <a:t>Each UWF image was independently classified by two junior annotators independently. In cases of inconsistent classifications, a senior annotator reviewed and reclassified the images to ensure accuracy.</a:t>
            </a:r>
            <a:endParaRPr lang="en-US" altLang="zh-CN" sz="2000" i="1" dirty="0">
              <a:latin typeface="+mn-lt"/>
              <a:cs typeface="+mn-lt"/>
            </a:endParaRPr>
          </a:p>
          <a:p>
            <a:pPr marL="0" indent="0" algn="just">
              <a:lnSpc>
                <a:spcPct val="90000"/>
              </a:lnSpc>
              <a:buNone/>
            </a:pPr>
            <a:endParaRPr lang="en-US" altLang="zh-CN" sz="2000" i="1" dirty="0">
              <a:latin typeface="+mn-lt"/>
              <a:cs typeface="+mn-lt"/>
            </a:endParaRPr>
          </a:p>
          <a:p>
            <a:pPr marL="0" indent="0" algn="just">
              <a:buNone/>
            </a:pPr>
            <a:endParaRPr lang="en-US" altLang="zh-CN" sz="2000" i="1" dirty="0">
              <a:latin typeface="+mn-lt"/>
              <a:cs typeface="+mn-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pic>
        <p:nvPicPr>
          <p:cNvPr id="6" name="图片 5"/>
          <p:cNvPicPr>
            <a:picLocks noChangeAspect="1"/>
          </p:cNvPicPr>
          <p:nvPr/>
        </p:nvPicPr>
        <p:blipFill>
          <a:blip r:embed="rId1"/>
          <a:stretch>
            <a:fillRect/>
          </a:stretch>
        </p:blipFill>
        <p:spPr>
          <a:xfrm>
            <a:off x="126365" y="783590"/>
            <a:ext cx="6715760" cy="4067175"/>
          </a:xfrm>
          <a:prstGeom prst="rect">
            <a:avLst/>
          </a:prstGeom>
        </p:spPr>
      </p:pic>
      <p:pic>
        <p:nvPicPr>
          <p:cNvPr id="7" name="图片 6"/>
          <p:cNvPicPr>
            <a:picLocks noChangeAspect="1"/>
          </p:cNvPicPr>
          <p:nvPr/>
        </p:nvPicPr>
        <p:blipFill>
          <a:blip r:embed="rId2"/>
          <a:stretch>
            <a:fillRect/>
          </a:stretch>
        </p:blipFill>
        <p:spPr>
          <a:xfrm>
            <a:off x="410845" y="4787265"/>
            <a:ext cx="3168650" cy="2010410"/>
          </a:xfrm>
          <a:prstGeom prst="rect">
            <a:avLst/>
          </a:prstGeom>
        </p:spPr>
      </p:pic>
      <p:pic>
        <p:nvPicPr>
          <p:cNvPr id="8" name="图片 7"/>
          <p:cNvPicPr>
            <a:picLocks noChangeAspect="1"/>
          </p:cNvPicPr>
          <p:nvPr/>
        </p:nvPicPr>
        <p:blipFill>
          <a:blip r:embed="rId3"/>
          <a:stretch>
            <a:fillRect/>
          </a:stretch>
        </p:blipFill>
        <p:spPr>
          <a:xfrm>
            <a:off x="3579495" y="4850765"/>
            <a:ext cx="3127375" cy="194691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15" y="192405"/>
            <a:ext cx="12214225" cy="1147445"/>
          </a:xfrm>
        </p:spPr>
        <p:txBody>
          <a:bodyPr>
            <a:normAutofit/>
          </a:bodyPr>
          <a:lstStyle/>
          <a:p>
            <a:pPr algn="just"/>
            <a:r>
              <a:rPr lang="en-US" altLang="zh-CN" sz="3600" dirty="0">
                <a:latin typeface="+mj-lt"/>
                <a:cs typeface="+mj-lt"/>
              </a:rPr>
              <a:t> Methodology – Feature Extraction</a:t>
            </a:r>
            <a:endParaRPr lang="en-US" altLang="zh-CN"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8" name="文本框 7"/>
          <p:cNvSpPr txBox="1"/>
          <p:nvPr/>
        </p:nvSpPr>
        <p:spPr>
          <a:xfrm>
            <a:off x="564515" y="1216025"/>
            <a:ext cx="11642725" cy="3813175"/>
          </a:xfrm>
          <a:prstGeom prst="rect">
            <a:avLst/>
          </a:prstGeom>
        </p:spPr>
        <p:txBody>
          <a:bodyPr>
            <a:noAutofit/>
          </a:bodyPr>
          <a:p>
            <a:pPr marL="0" indent="0">
              <a:spcBef>
                <a:spcPts val="1600"/>
              </a:spcBef>
              <a:spcAft>
                <a:spcPts val="1600"/>
              </a:spcAft>
            </a:pPr>
            <a:r>
              <a:rPr lang="en-US" altLang="zh-CN" sz="2400" b="1">
                <a:ea typeface="quote-cjk-patch"/>
                <a:cs typeface="+mn-lt"/>
                <a:sym typeface="+mn-ea"/>
              </a:rPr>
              <a:t>ARIA (Automatic Retinal Image Analysis)</a:t>
            </a:r>
            <a:r>
              <a:rPr lang="en-US" altLang="zh-CN" sz="2400">
                <a:ea typeface="quote-cjk-patch"/>
                <a:cs typeface="+mn-lt"/>
                <a:sym typeface="+mn-ea"/>
              </a:rPr>
              <a:t> extracts four textures</a:t>
            </a:r>
            <a:r>
              <a:rPr lang="en-US" altLang="zh-CN" sz="1800">
                <a:ea typeface="quote-cjk-patch"/>
                <a:cs typeface="+mn-lt"/>
                <a:sym typeface="+mn-ea"/>
              </a:rPr>
              <a:t>(</a:t>
            </a:r>
            <a:r>
              <a:rPr lang="en-US" altLang="zh-CN" i="1">
                <a:ea typeface="quote-cjk-patch"/>
                <a:cs typeface="+mn-lt"/>
                <a:sym typeface="+mn-ea"/>
              </a:rPr>
              <a:t>Patent</a:t>
            </a:r>
            <a:r>
              <a:rPr lang="en-US" altLang="zh-CN" sz="1800">
                <a:ea typeface="quote-cjk-patch"/>
                <a:cs typeface="+mn-lt"/>
                <a:sym typeface="+mn-ea"/>
              </a:rPr>
              <a:t>)</a:t>
            </a:r>
            <a:r>
              <a:rPr lang="en-US" altLang="zh-CN" sz="2400">
                <a:ea typeface="quote-cjk-patch"/>
                <a:cs typeface="+mn-lt"/>
                <a:sym typeface="+mn-ea"/>
              </a:rPr>
              <a:t>:</a:t>
            </a:r>
            <a:endParaRPr lang="en-US" altLang="zh-CN" sz="2400" b="0" i="0">
              <a:solidFill>
                <a:schemeClr val="tx1"/>
              </a:solidFill>
              <a:ea typeface="quote-cjk-patch"/>
              <a:cs typeface="+mn-lt"/>
            </a:endParaRPr>
          </a:p>
          <a:p>
            <a:pPr marL="0" lvl="1" indent="0">
              <a:spcBef>
                <a:spcPct val="0"/>
              </a:spcBef>
              <a:spcAft>
                <a:spcPts val="800"/>
              </a:spcAft>
              <a:buNone/>
            </a:pPr>
            <a:r>
              <a:rPr lang="en-US" altLang="zh-CN" sz="2400">
                <a:ea typeface="quote-cjk-patch"/>
                <a:cs typeface="+mn-lt"/>
                <a:sym typeface="+mn-ea"/>
              </a:rPr>
              <a:t>· Local Binary Patterns LBP -local texture /</a:t>
            </a:r>
            <a:r>
              <a:rPr lang="en-US" altLang="zh-CN" sz="2400" b="0" i="0">
                <a:solidFill>
                  <a:schemeClr val="tx1"/>
                </a:solidFill>
                <a:ea typeface="quote-cjk-patch"/>
                <a:cs typeface="+mn-lt"/>
              </a:rPr>
              <a:t> 80 </a:t>
            </a:r>
            <a:endParaRPr lang="en-US" altLang="zh-CN" sz="2400" b="0" i="0">
              <a:solidFill>
                <a:schemeClr val="tx1"/>
              </a:solidFill>
              <a:ea typeface="quote-cjk-patch"/>
              <a:cs typeface="+mn-lt"/>
            </a:endParaRPr>
          </a:p>
          <a:p>
            <a:pPr marL="0" lvl="1" indent="0">
              <a:spcBef>
                <a:spcPct val="0"/>
              </a:spcBef>
              <a:spcAft>
                <a:spcPts val="800"/>
              </a:spcAft>
              <a:buNone/>
            </a:pPr>
            <a:r>
              <a:rPr lang="en-US" altLang="zh-CN" sz="2400">
                <a:ea typeface="quote-cjk-patch"/>
                <a:cs typeface="+mn-lt"/>
                <a:sym typeface="+mn-ea"/>
              </a:rPr>
              <a:t>· Haralick - statistical texture  /8</a:t>
            </a:r>
            <a:endParaRPr lang="en-US" altLang="zh-CN" sz="2400">
              <a:ea typeface="quote-cjk-patch"/>
              <a:cs typeface="+mn-lt"/>
              <a:sym typeface="+mn-ea"/>
            </a:endParaRPr>
          </a:p>
          <a:p>
            <a:pPr marL="0" lvl="1" indent="0">
              <a:spcBef>
                <a:spcPct val="0"/>
              </a:spcBef>
              <a:spcAft>
                <a:spcPts val="800"/>
              </a:spcAft>
              <a:buNone/>
            </a:pPr>
            <a:r>
              <a:rPr lang="en-US" altLang="zh-CN" sz="2400">
                <a:ea typeface="quote-cjk-patch"/>
                <a:cs typeface="+mn-lt"/>
                <a:sym typeface="+mn-ea"/>
              </a:rPr>
              <a:t>· Fractal - self-similarity and complexity  /6</a:t>
            </a:r>
            <a:endParaRPr lang="en-US" altLang="zh-CN" sz="2400" b="0" i="0">
              <a:solidFill>
                <a:schemeClr val="tx1"/>
              </a:solidFill>
              <a:ea typeface="quote-cjk-patch"/>
              <a:cs typeface="+mn-lt"/>
            </a:endParaRPr>
          </a:p>
          <a:p>
            <a:pPr marL="0" lvl="1" indent="0">
              <a:spcBef>
                <a:spcPct val="0"/>
              </a:spcBef>
              <a:spcAft>
                <a:spcPts val="800"/>
              </a:spcAft>
              <a:buNone/>
            </a:pPr>
            <a:r>
              <a:rPr lang="en-US" altLang="zh-CN" sz="2400">
                <a:ea typeface="quote-cjk-patch"/>
                <a:cs typeface="+mn-lt"/>
                <a:sym typeface="+mn-ea"/>
              </a:rPr>
              <a:t>· HOS (Higher Order Spectra) -  non-linear and non-Gaussian patterns  /19</a:t>
            </a:r>
            <a:endParaRPr lang="en-US" altLang="zh-CN" sz="2400">
              <a:ea typeface="quote-cjk-patch"/>
              <a:cs typeface="+mn-lt"/>
              <a:sym typeface="+mn-ea"/>
            </a:endParaRPr>
          </a:p>
          <a:p>
            <a:pPr marL="0" lvl="1" indent="0">
              <a:spcBef>
                <a:spcPct val="0"/>
              </a:spcBef>
              <a:spcAft>
                <a:spcPct val="0"/>
              </a:spcAft>
              <a:buFont typeface="Arial" panose="020B0604020202090204"/>
              <a:buNone/>
            </a:pPr>
            <a:endParaRPr lang="en-US" altLang="zh-CN" sz="2400" b="0" i="0">
              <a:solidFill>
                <a:schemeClr val="tx1"/>
              </a:solidFill>
              <a:ea typeface="quote-cjk-patch"/>
              <a:cs typeface="+mn-lt"/>
            </a:endParaRPr>
          </a:p>
          <a:p>
            <a:pPr marL="0" lvl="1" indent="0">
              <a:spcBef>
                <a:spcPct val="0"/>
              </a:spcBef>
              <a:spcAft>
                <a:spcPct val="0"/>
              </a:spcAft>
              <a:buFont typeface="Arial" panose="020B0604020202090204"/>
              <a:buNone/>
            </a:pPr>
            <a:r>
              <a:rPr lang="en-US" altLang="zh-CN" sz="2400">
                <a:ea typeface="quote-cjk-patch"/>
                <a:cs typeface="+mn-lt"/>
                <a:sym typeface="+mn-ea"/>
              </a:rPr>
              <a:t>using ARIA to obtain four individual texture features for comparison.</a:t>
            </a:r>
            <a:endParaRPr lang="en-US" altLang="zh-CN" sz="2400">
              <a:ea typeface="quote-cjk-patch"/>
              <a:cs typeface="+mn-lt"/>
              <a:sym typeface="+mn-ea"/>
            </a:endParaRPr>
          </a:p>
          <a:p>
            <a:pPr marL="0" lvl="1" indent="0">
              <a:spcBef>
                <a:spcPct val="0"/>
              </a:spcBef>
              <a:spcAft>
                <a:spcPct val="0"/>
              </a:spcAft>
              <a:buFont typeface="Arial" panose="020B0604020202090204"/>
              <a:buNone/>
            </a:pPr>
            <a:r>
              <a:rPr lang="en-US" altLang="zh-CN" sz="2400" b="0" i="0">
                <a:solidFill>
                  <a:schemeClr val="tx1"/>
                </a:solidFill>
                <a:ea typeface="quote-cjk-patch"/>
              </a:rPr>
              <a:t>1.LBP  2.HOS  3.</a:t>
            </a:r>
            <a:r>
              <a:rPr lang="en-US" altLang="zh-CN" sz="2400">
                <a:ea typeface="quote-cjk-patch"/>
                <a:cs typeface="+mn-lt"/>
                <a:sym typeface="+mn-ea"/>
              </a:rPr>
              <a:t>Haralick&amp; Fractal   4.C</a:t>
            </a:r>
            <a:r>
              <a:rPr lang="en-US" altLang="zh-CN" sz="2400">
                <a:ea typeface="quote-cjk-patch"/>
                <a:cs typeface="+mn-lt"/>
                <a:sym typeface="+mn-ea"/>
              </a:rPr>
              <a:t>ombine</a:t>
            </a:r>
            <a:endParaRPr lang="en-US" altLang="zh-CN" sz="2400">
              <a:ea typeface="quote-cjk-patch"/>
              <a:cs typeface="+mn-lt"/>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15" y="300355"/>
            <a:ext cx="12214225" cy="1147445"/>
          </a:xfrm>
        </p:spPr>
        <p:txBody>
          <a:bodyPr>
            <a:normAutofit fontScale="90000"/>
          </a:bodyPr>
          <a:lstStyle/>
          <a:p>
            <a:pPr algn="just"/>
            <a:r>
              <a:rPr lang="en-US" altLang="zh-CN" sz="4000" dirty="0">
                <a:latin typeface="+mj-lt"/>
                <a:cs typeface="+mj-lt"/>
              </a:rPr>
              <a:t>Methodology – Feature Selection &amp; Model Building</a:t>
            </a:r>
            <a:endParaRPr lang="en-US" altLang="zh-CN" sz="40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7" name="文本框 6"/>
          <p:cNvSpPr txBox="1"/>
          <p:nvPr/>
        </p:nvSpPr>
        <p:spPr>
          <a:xfrm>
            <a:off x="511810" y="1203325"/>
            <a:ext cx="8096250" cy="4523105"/>
          </a:xfrm>
          <a:prstGeom prst="rect">
            <a:avLst/>
          </a:prstGeom>
          <a:noFill/>
        </p:spPr>
        <p:txBody>
          <a:bodyPr wrap="square" rtlCol="0">
            <a:spAutoFit/>
          </a:bodyPr>
          <a:p>
            <a:r>
              <a:rPr lang="en-US" altLang="zh-CN" sz="2400"/>
              <a:t>Step 1: Univariate logistic regression for each feature (</a:t>
            </a:r>
            <a:r>
              <a:rPr lang="en-US" altLang="zh-CN" sz="2400" i="1"/>
              <a:t>p</a:t>
            </a:r>
            <a:r>
              <a:rPr lang="en-US" altLang="zh-CN" sz="2400"/>
              <a:t>&lt;0.05 to enter)</a:t>
            </a:r>
            <a:endParaRPr lang="en-US" altLang="zh-CN" sz="2400"/>
          </a:p>
          <a:p>
            <a:endParaRPr lang="en-US" altLang="zh-CN" sz="2400"/>
          </a:p>
          <a:p>
            <a:r>
              <a:rPr lang="en-US" altLang="zh-CN" sz="2400"/>
              <a:t>Step 2: Multivariate logistic regression with backward elimination (</a:t>
            </a:r>
            <a:r>
              <a:rPr lang="en-US" altLang="zh-CN" sz="2400" i="1"/>
              <a:t>p</a:t>
            </a:r>
            <a:r>
              <a:rPr lang="en-US" altLang="zh-CN" sz="2400"/>
              <a:t>&lt;0.1 to stay)</a:t>
            </a:r>
            <a:endParaRPr lang="en-US" altLang="zh-CN" sz="2400"/>
          </a:p>
          <a:p>
            <a:endParaRPr lang="en-US" altLang="zh-CN" sz="2400"/>
          </a:p>
          <a:p>
            <a:r>
              <a:rPr lang="en-US" altLang="zh-CN" sz="2400"/>
              <a:t>Step 3:</a:t>
            </a:r>
            <a:r>
              <a:rPr lang="en-US" altLang="zh-CN" sz="2400">
                <a:sym typeface="+mn-ea"/>
              </a:rPr>
              <a:t>using selected features </a:t>
            </a:r>
            <a:r>
              <a:rPr lang="en-US" altLang="zh-CN" sz="2400"/>
              <a:t>generate </a:t>
            </a:r>
            <a:r>
              <a:rPr lang="en-US" altLang="zh-CN" sz="2400">
                <a:sym typeface="+mn-ea"/>
              </a:rPr>
              <a:t>Model </a:t>
            </a:r>
            <a:endParaRPr lang="en-US" altLang="zh-CN" sz="2400"/>
          </a:p>
          <a:p>
            <a:endParaRPr lang="en-US" altLang="zh-CN" sz="2400"/>
          </a:p>
          <a:p>
            <a:r>
              <a:rPr lang="en-US" altLang="zh-CN" sz="2400"/>
              <a:t>Software: MATLAB 2020a (feature extraction),</a:t>
            </a:r>
            <a:endParaRPr lang="en-US" altLang="zh-CN" sz="2400"/>
          </a:p>
          <a:p>
            <a:r>
              <a:rPr lang="en-US" altLang="zh-CN" sz="2400"/>
              <a:t>                 SPSS V.20 /Vscode (statistical analysis)</a:t>
            </a:r>
            <a:endParaRPr lang="en-US" altLang="zh-CN" sz="2400"/>
          </a:p>
          <a:p>
            <a:endParaRPr lang="en-US" altLang="zh-CN" sz="2400"/>
          </a:p>
          <a:p>
            <a:endParaRPr lang="en-US" altLang="zh-CN" sz="2400"/>
          </a:p>
        </p:txBody>
      </p:sp>
      <p:pic>
        <p:nvPicPr>
          <p:cNvPr id="8" name="图片 7"/>
          <p:cNvPicPr>
            <a:picLocks noChangeAspect="1"/>
          </p:cNvPicPr>
          <p:nvPr/>
        </p:nvPicPr>
        <p:blipFill>
          <a:blip r:embed="rId1"/>
          <a:srcRect t="29933"/>
          <a:stretch>
            <a:fillRect/>
          </a:stretch>
        </p:blipFill>
        <p:spPr>
          <a:xfrm>
            <a:off x="8472805" y="982980"/>
            <a:ext cx="3515360" cy="5113020"/>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rcRect l="10287" t="29784" r="9578"/>
          <a:stretch>
            <a:fillRect/>
          </a:stretch>
        </p:blipFill>
        <p:spPr>
          <a:xfrm>
            <a:off x="9512935" y="883920"/>
            <a:ext cx="2679700" cy="5145405"/>
          </a:xfrm>
          <a:prstGeom prst="rect">
            <a:avLst/>
          </a:prstGeom>
        </p:spPr>
      </p:pic>
      <p:sp>
        <p:nvSpPr>
          <p:cNvPr id="2" name="Title 1"/>
          <p:cNvSpPr>
            <a:spLocks noGrp="1"/>
          </p:cNvSpPr>
          <p:nvPr>
            <p:ph type="title"/>
          </p:nvPr>
        </p:nvSpPr>
        <p:spPr>
          <a:xfrm>
            <a:off x="201930" y="290195"/>
            <a:ext cx="12600940" cy="1147445"/>
          </a:xfrm>
        </p:spPr>
        <p:txBody>
          <a:bodyPr/>
          <a:lstStyle/>
          <a:p>
            <a:r>
              <a:rPr lang="en-US" altLang="zh-CN" sz="3600" dirty="0">
                <a:latin typeface="+mj-lt"/>
                <a:cs typeface="+mj-lt"/>
              </a:rPr>
              <a:t>Methodology </a:t>
            </a:r>
            <a:r>
              <a:rPr lang="en-US" altLang="zh-CN" sz="3600" dirty="0">
                <a:latin typeface="+mj-lt"/>
                <a:cs typeface="+mj-lt"/>
              </a:rPr>
              <a:t>– Validation &amp; Performance Comparison</a:t>
            </a:r>
            <a:endParaRPr lang="en-US" altLang="zh-CN" sz="3600" dirty="0">
              <a:latin typeface="+mj-lt"/>
              <a:cs typeface="+mj-lt"/>
            </a:endParaRPr>
          </a:p>
        </p:txBody>
      </p:sp>
      <p:sp>
        <p:nvSpPr>
          <p:cNvPr id="3" name="Content Placeholder 2"/>
          <p:cNvSpPr>
            <a:spLocks noGrp="1"/>
          </p:cNvSpPr>
          <p:nvPr>
            <p:ph sz="quarter" idx="12"/>
          </p:nvPr>
        </p:nvSpPr>
        <p:spPr>
          <a:xfrm>
            <a:off x="201930" y="1221740"/>
            <a:ext cx="9706610" cy="4470400"/>
          </a:xfrm>
        </p:spPr>
        <p:txBody>
          <a:bodyPr>
            <a:noAutofit/>
          </a:bodyPr>
          <a:lstStyle/>
          <a:p>
            <a:pPr marL="476250" lvl="1" indent="0">
              <a:buNone/>
            </a:pPr>
            <a:r>
              <a:rPr lang="en-US" altLang="zh-CN" sz="2400" dirty="0">
                <a:latin typeface="Times New Roman Regular" panose="02020503050405090304" charset="0"/>
                <a:cs typeface="Times New Roman Regular" panose="02020503050405090304" charset="0"/>
              </a:rPr>
              <a:t>Validation: </a:t>
            </a:r>
            <a:r>
              <a:rPr lang="en-US" altLang="zh-CN" sz="2400" b="1" dirty="0">
                <a:latin typeface="Times New Roman Regular" panose="02020503050405090304" charset="0"/>
                <a:cs typeface="Times New Roman Regular" panose="02020503050405090304" charset="0"/>
              </a:rPr>
              <a:t>10-fold cross-validation</a:t>
            </a:r>
            <a:endParaRPr lang="en-US" altLang="zh-CN" sz="2400" b="1" dirty="0">
              <a:latin typeface="Times New Roman Regular" panose="02020503050405090304" charset="0"/>
              <a:cs typeface="Times New Roman Regular" panose="02020503050405090304" charset="0"/>
            </a:endParaRPr>
          </a:p>
          <a:p>
            <a:pPr marL="476250" lvl="1" indent="0">
              <a:buNone/>
            </a:pPr>
            <a:r>
              <a:rPr lang="en-US" altLang="zh-CN" sz="2400" b="1" dirty="0">
                <a:latin typeface="Times New Roman Regular" panose="02020503050405090304" charset="0"/>
                <a:cs typeface="Times New Roman Regular" panose="02020503050405090304" charset="0"/>
              </a:rPr>
              <a:t>·</a:t>
            </a:r>
            <a:r>
              <a:rPr lang="en-US" altLang="zh-CN" sz="2400" dirty="0">
                <a:latin typeface="Times New Roman Regular" panose="02020503050405090304" charset="0"/>
                <a:cs typeface="Times New Roman Regular" panose="02020503050405090304" charset="0"/>
              </a:rPr>
              <a:t>Data split into 10 subsets:</a:t>
            </a:r>
            <a:endParaRPr lang="en-US" altLang="zh-CN" sz="2400" dirty="0">
              <a:latin typeface="Times New Roman Regular" panose="02020503050405090304" charset="0"/>
              <a:cs typeface="Times New Roman Regular" panose="02020503050405090304" charset="0"/>
            </a:endParaRPr>
          </a:p>
          <a:p>
            <a:pPr marL="476250" lvl="1" indent="0">
              <a:buNone/>
            </a:pPr>
            <a:r>
              <a:rPr lang="en-US" altLang="zh-CN" sz="2400" dirty="0">
                <a:latin typeface="Times New Roman Regular" panose="02020503050405090304" charset="0"/>
                <a:cs typeface="Times New Roman Regular" panose="02020503050405090304" charset="0"/>
              </a:rPr>
              <a:t>Train on 9, test on 1 </a:t>
            </a:r>
            <a:endParaRPr lang="en-US" altLang="zh-CN" sz="2400" dirty="0">
              <a:latin typeface="Times New Roman Regular" panose="02020503050405090304" charset="0"/>
              <a:cs typeface="Times New Roman Regular" panose="02020503050405090304" charset="0"/>
            </a:endParaRPr>
          </a:p>
          <a:p>
            <a:pPr marL="476250" lvl="1" indent="0">
              <a:buNone/>
            </a:pPr>
            <a:r>
              <a:rPr lang="en-US" altLang="zh-CN" sz="2400" dirty="0">
                <a:latin typeface="Times New Roman Regular" panose="02020503050405090304" charset="0"/>
                <a:cs typeface="Times New Roman Regular" panose="02020503050405090304" charset="0"/>
              </a:rPr>
              <a:t>Repeat 10 times, use average results </a:t>
            </a:r>
            <a:endParaRPr lang="en-US" altLang="zh-CN" sz="2400" dirty="0">
              <a:latin typeface="Times New Roman Regular" panose="02020503050405090304" charset="0"/>
              <a:cs typeface="Times New Roman Regular" panose="02020503050405090304" charset="0"/>
            </a:endParaRPr>
          </a:p>
          <a:p>
            <a:pPr marL="476250" lvl="1" indent="0">
              <a:buNone/>
            </a:pPr>
            <a:endParaRPr lang="en-US" altLang="zh-CN" sz="2400" dirty="0">
              <a:latin typeface="Times New Roman Regular" panose="02020503050405090304" charset="0"/>
              <a:cs typeface="Times New Roman Regular" panose="02020503050405090304" charset="0"/>
            </a:endParaRPr>
          </a:p>
          <a:p>
            <a:pPr marL="476250" lvl="1" indent="0">
              <a:buNone/>
            </a:pPr>
            <a:r>
              <a:rPr lang="en-US" altLang="zh-CN" sz="2400" b="1" dirty="0">
                <a:latin typeface="Times New Roman Regular" panose="02020503050405090304" charset="0"/>
                <a:cs typeface="Times New Roman Regular" panose="02020503050405090304" charset="0"/>
              </a:rPr>
              <a:t>·</a:t>
            </a:r>
            <a:r>
              <a:rPr lang="en-US" altLang="zh-CN" sz="2400" dirty="0">
                <a:latin typeface="Times New Roman Regular" panose="02020503050405090304" charset="0"/>
                <a:cs typeface="Times New Roman Regular" panose="02020503050405090304" charset="0"/>
              </a:rPr>
              <a:t>Performance Metrics:</a:t>
            </a:r>
            <a:endParaRPr lang="en-US" altLang="zh-CN" sz="2400" dirty="0">
              <a:latin typeface="Times New Roman Regular" panose="02020503050405090304" charset="0"/>
              <a:cs typeface="Times New Roman Regular" panose="02020503050405090304" charset="0"/>
            </a:endParaRPr>
          </a:p>
          <a:p>
            <a:pPr marL="476250" lvl="1" indent="0">
              <a:buNone/>
            </a:pPr>
            <a:r>
              <a:rPr lang="en-US" altLang="zh-CN" sz="2400" dirty="0">
                <a:latin typeface="Times New Roman Regular" panose="02020503050405090304" charset="0"/>
                <a:cs typeface="Times New Roman Regular" panose="02020503050405090304" charset="0"/>
              </a:rPr>
              <a:t>Sensitivity, Specificity, Accuracy,Area Under ROC Curve (AUC)</a:t>
            </a:r>
            <a:endParaRPr lang="en-US" altLang="zh-CN" sz="2400" dirty="0">
              <a:latin typeface="Times New Roman Regular" panose="02020503050405090304" charset="0"/>
              <a:cs typeface="Times New Roman Regular" panose="02020503050405090304" charset="0"/>
            </a:endParaRPr>
          </a:p>
          <a:p>
            <a:pPr marL="476250" lvl="1" indent="0">
              <a:lnSpc>
                <a:spcPct val="70000"/>
              </a:lnSpc>
              <a:buNone/>
            </a:pPr>
            <a:endParaRPr lang="en-US" altLang="zh-CN" sz="2400" dirty="0">
              <a:latin typeface="Times New Roman Regular" panose="02020503050405090304" charset="0"/>
              <a:cs typeface="Times New Roman Regular" panose="02020503050405090304" charset="0"/>
            </a:endParaRPr>
          </a:p>
          <a:p>
            <a:pPr marL="476250" lvl="1" indent="0">
              <a:buNone/>
            </a:pPr>
            <a:endParaRPr lang="en-US" sz="1735" dirty="0">
              <a:latin typeface="Times New Roman Regular" panose="02020503050405090304" charset="0"/>
              <a:cs typeface="Times New Roman Regular" panose="02020503050405090304" charset="0"/>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pic>
        <p:nvPicPr>
          <p:cNvPr id="6" name="图片 5"/>
          <p:cNvPicPr>
            <a:picLocks noChangeAspect="1"/>
          </p:cNvPicPr>
          <p:nvPr/>
        </p:nvPicPr>
        <p:blipFill>
          <a:blip r:embed="rId2"/>
          <a:stretch>
            <a:fillRect/>
          </a:stretch>
        </p:blipFill>
        <p:spPr>
          <a:xfrm>
            <a:off x="6616700" y="883920"/>
            <a:ext cx="2527300" cy="276860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465246"/>
            <a:ext cx="11176000" cy="1147631"/>
          </a:xfrm>
        </p:spPr>
        <p:txBody>
          <a:bodyPr>
            <a:normAutofit/>
          </a:bodyPr>
          <a:lstStyle/>
          <a:p>
            <a:r>
              <a:rPr lang="en-US" altLang="zh-CN" sz="3600" dirty="0">
                <a:latin typeface="+mj-lt"/>
                <a:cs typeface="+mj-lt"/>
              </a:rPr>
              <a:t>Result</a:t>
            </a:r>
            <a:endParaRPr lang="en-US" altLang="zh-CN"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7" name="文本框 6"/>
          <p:cNvSpPr txBox="1"/>
          <p:nvPr/>
        </p:nvSpPr>
        <p:spPr>
          <a:xfrm>
            <a:off x="589280" y="1225550"/>
            <a:ext cx="7870190" cy="1050290"/>
          </a:xfrm>
          <a:prstGeom prst="rect">
            <a:avLst/>
          </a:prstGeom>
        </p:spPr>
        <p:txBody>
          <a:bodyPr wrap="square">
            <a:spAutoFit/>
          </a:bodyPr>
          <a:p>
            <a:pPr marL="0" indent="0" algn="l">
              <a:lnSpc>
                <a:spcPct val="130000"/>
              </a:lnSpc>
              <a:spcBef>
                <a:spcPct val="0"/>
              </a:spcBef>
              <a:spcAft>
                <a:spcPct val="0"/>
              </a:spcAft>
              <a:buFont typeface="Arial" panose="020B0604020202090204"/>
              <a:buChar char="•"/>
            </a:pPr>
            <a:endParaRPr lang="en-US" altLang="zh-CN" sz="2400" b="0" i="0">
              <a:solidFill>
                <a:schemeClr val="tx1"/>
              </a:solidFill>
              <a:ea typeface="quote-cjk-patch"/>
              <a:cs typeface="+mn-lt"/>
            </a:endParaRPr>
          </a:p>
          <a:p>
            <a:pPr marL="0" indent="0" algn="l">
              <a:lnSpc>
                <a:spcPct val="130000"/>
              </a:lnSpc>
              <a:spcBef>
                <a:spcPct val="0"/>
              </a:spcBef>
              <a:spcAft>
                <a:spcPct val="0"/>
              </a:spcAft>
              <a:buFont typeface="Arial" panose="020B0604020202090204"/>
              <a:buChar char="•"/>
            </a:pPr>
            <a:endParaRPr lang="en-US" altLang="zh-CN" sz="2400" b="0" i="0">
              <a:solidFill>
                <a:schemeClr val="tx1"/>
              </a:solidFill>
              <a:ea typeface="quote-cjk-patch"/>
              <a:cs typeface="+mn-lt"/>
            </a:endParaRPr>
          </a:p>
        </p:txBody>
      </p:sp>
      <p:pic>
        <p:nvPicPr>
          <p:cNvPr id="3" name="图片 2"/>
          <p:cNvPicPr>
            <a:picLocks noChangeAspect="1"/>
          </p:cNvPicPr>
          <p:nvPr/>
        </p:nvPicPr>
        <p:blipFill>
          <a:blip r:embed="rId1"/>
          <a:stretch>
            <a:fillRect/>
          </a:stretch>
        </p:blipFill>
        <p:spPr>
          <a:xfrm>
            <a:off x="508000" y="1123950"/>
            <a:ext cx="7582535" cy="4997450"/>
          </a:xfrm>
          <a:prstGeom prst="rect">
            <a:avLst/>
          </a:prstGeom>
        </p:spPr>
      </p:pic>
      <p:pic>
        <p:nvPicPr>
          <p:cNvPr id="6" name="图片 5"/>
          <p:cNvPicPr>
            <a:picLocks noChangeAspect="1"/>
          </p:cNvPicPr>
          <p:nvPr/>
        </p:nvPicPr>
        <p:blipFill>
          <a:blip r:embed="rId2"/>
          <a:stretch>
            <a:fillRect/>
          </a:stretch>
        </p:blipFill>
        <p:spPr>
          <a:xfrm>
            <a:off x="7894955" y="1482725"/>
            <a:ext cx="4297045" cy="4495800"/>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157271"/>
            <a:ext cx="11176000" cy="1147631"/>
          </a:xfrm>
        </p:spPr>
        <p:txBody>
          <a:bodyPr>
            <a:normAutofit/>
          </a:bodyPr>
          <a:lstStyle/>
          <a:p>
            <a:r>
              <a:rPr lang="en-US" altLang="zh-CN" sz="3600" dirty="0">
                <a:latin typeface="+mj-lt"/>
                <a:cs typeface="+mj-lt"/>
              </a:rPr>
              <a:t>Discussion</a:t>
            </a:r>
            <a:endParaRPr lang="en-US" altLang="zh-CN" sz="44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5" name="文本框 4"/>
          <p:cNvSpPr txBox="1"/>
          <p:nvPr/>
        </p:nvSpPr>
        <p:spPr>
          <a:xfrm>
            <a:off x="610870" y="1863725"/>
            <a:ext cx="8219440" cy="4467225"/>
          </a:xfrm>
          <a:prstGeom prst="rect">
            <a:avLst/>
          </a:prstGeom>
        </p:spPr>
        <p:txBody>
          <a:bodyPr wrap="square">
            <a:spAutoFit/>
          </a:bodyPr>
          <a:p>
            <a:pPr algn="just">
              <a:lnSpc>
                <a:spcPct val="90000"/>
              </a:lnSpc>
            </a:pPr>
            <a:r>
              <a:rPr lang="en-US" altLang="zh-CN" sz="2000">
                <a:solidFill>
                  <a:srgbClr val="000000"/>
                </a:solidFill>
                <a:ea typeface="Times New Roman" panose="02020503050405090304"/>
                <a:cs typeface="+mn-lt"/>
              </a:rPr>
              <a:t>Early endophytic tumors present as small, flat, transparent or pale white lesions</a:t>
            </a:r>
            <a:endParaRPr lang="en-US" altLang="zh-CN" sz="2000">
              <a:solidFill>
                <a:srgbClr val="000000"/>
              </a:solidFill>
              <a:ea typeface="Times New Roman" panose="02020503050405090304"/>
              <a:cs typeface="+mn-lt"/>
            </a:endParaRPr>
          </a:p>
          <a:p>
            <a:pPr algn="just">
              <a:lnSpc>
                <a:spcPct val="90000"/>
              </a:lnSpc>
            </a:pPr>
            <a:r>
              <a:rPr lang="en-US" altLang="zh-CN" sz="2000">
                <a:solidFill>
                  <a:srgbClr val="000000"/>
                </a:solidFill>
                <a:ea typeface="Times New Roman" panose="02020503050405090304"/>
                <a:cs typeface="+mn-lt"/>
              </a:rPr>
              <a:t>→ extend into the vitreous body</a:t>
            </a:r>
            <a:endParaRPr lang="en-US" altLang="zh-CN" sz="2000">
              <a:solidFill>
                <a:srgbClr val="000000"/>
              </a:solidFill>
              <a:ea typeface="Times New Roman" panose="02020503050405090304"/>
              <a:cs typeface="+mn-lt"/>
            </a:endParaRPr>
          </a:p>
          <a:p>
            <a:pPr algn="just">
              <a:lnSpc>
                <a:spcPct val="90000"/>
              </a:lnSpc>
            </a:pPr>
            <a:r>
              <a:rPr lang="en-US" altLang="zh-CN" sz="2000">
                <a:solidFill>
                  <a:srgbClr val="000000"/>
                </a:solidFill>
                <a:ea typeface="Times New Roman" panose="02020503050405090304"/>
                <a:cs typeface="+mn-lt"/>
              </a:rPr>
              <a:t>→ lack of adhesion between tumor cells</a:t>
            </a:r>
            <a:endParaRPr lang="en-US" altLang="zh-CN" sz="2000">
              <a:solidFill>
                <a:srgbClr val="000000"/>
              </a:solidFill>
              <a:ea typeface="Times New Roman" panose="02020503050405090304"/>
              <a:cs typeface="+mn-lt"/>
            </a:endParaRPr>
          </a:p>
          <a:p>
            <a:pPr algn="just">
              <a:lnSpc>
                <a:spcPct val="90000"/>
              </a:lnSpc>
            </a:pPr>
            <a:r>
              <a:rPr lang="en-US" altLang="zh-CN" sz="2000">
                <a:solidFill>
                  <a:srgbClr val="000000"/>
                </a:solidFill>
                <a:ea typeface="Times New Roman" panose="02020503050405090304"/>
                <a:cs typeface="+mn-lt"/>
              </a:rPr>
              <a:t>→ detach, implant, or float in the vitreous</a:t>
            </a:r>
            <a:r>
              <a:rPr lang="en-US" altLang="zh-CN" sz="2000" baseline="30000">
                <a:solidFill>
                  <a:srgbClr val="000000"/>
                </a:solidFill>
                <a:ea typeface="Times New Roman" panose="02020503050405090304"/>
                <a:cs typeface="+mn-lt"/>
              </a:rPr>
              <a:t>(47)</a:t>
            </a:r>
            <a:endParaRPr lang="en-US" altLang="zh-CN" sz="2000" baseline="30000">
              <a:solidFill>
                <a:srgbClr val="000000"/>
              </a:solidFill>
              <a:ea typeface="Times New Roman" panose="02020503050405090304"/>
              <a:cs typeface="+mn-lt"/>
            </a:endParaRPr>
          </a:p>
          <a:p>
            <a:pPr algn="just">
              <a:lnSpc>
                <a:spcPct val="90000"/>
              </a:lnSpc>
            </a:pPr>
            <a:r>
              <a:rPr lang="en-US" altLang="zh-CN" sz="2000">
                <a:solidFill>
                  <a:srgbClr val="000000"/>
                </a:solidFill>
                <a:ea typeface="Times New Roman" panose="02020503050405090304"/>
                <a:cs typeface="+mn-lt"/>
              </a:rPr>
              <a:t>→ The fundus images reveal white or grayish-white elevated lesions with focal bright white spots and scattered multiple vitreous seeds.</a:t>
            </a:r>
            <a:endParaRPr lang="en-US" altLang="zh-CN" sz="2000">
              <a:solidFill>
                <a:srgbClr val="000000"/>
              </a:solidFill>
              <a:ea typeface="Times New Roman" panose="02020503050405090304"/>
              <a:cs typeface="+mn-lt"/>
            </a:endParaRPr>
          </a:p>
          <a:p>
            <a:pPr algn="just">
              <a:lnSpc>
                <a:spcPct val="110000"/>
              </a:lnSpc>
            </a:pPr>
            <a:r>
              <a:rPr lang="en-US" altLang="zh-CN" sz="2400" b="1">
                <a:solidFill>
                  <a:srgbClr val="000000"/>
                </a:solidFill>
                <a:ea typeface="Times New Roman" panose="02020503050405090304"/>
                <a:cs typeface="+mn-lt"/>
              </a:rPr>
              <a:t>· LBP</a:t>
            </a:r>
            <a:r>
              <a:rPr lang="zh-CN" altLang="en-US" sz="2400" b="1">
                <a:solidFill>
                  <a:srgbClr val="000000"/>
                </a:solidFill>
                <a:ea typeface="宋体" charset="0"/>
                <a:cs typeface="+mn-lt"/>
              </a:rPr>
              <a:t>：</a:t>
            </a:r>
            <a:endParaRPr lang="zh-CN" altLang="en-US" sz="2400" b="1">
              <a:solidFill>
                <a:srgbClr val="000000"/>
              </a:solidFill>
              <a:ea typeface="宋体" charset="0"/>
              <a:cs typeface="+mn-lt"/>
            </a:endParaRPr>
          </a:p>
          <a:p>
            <a:pPr algn="just">
              <a:lnSpc>
                <a:spcPct val="110000"/>
              </a:lnSpc>
            </a:pPr>
            <a:r>
              <a:rPr lang="en-US" altLang="zh-CN" sz="2000">
                <a:solidFill>
                  <a:srgbClr val="000000"/>
                </a:solidFill>
                <a:ea typeface="Times New Roman" panose="02020503050405090304"/>
                <a:cs typeface="+mn-lt"/>
              </a:rPr>
              <a:t>Areas such as the calcified elevated regions of the tumor and the focal vitreous seeding zones appear lighter in color, denser, with </a:t>
            </a:r>
            <a:r>
              <a:rPr lang="en-US" altLang="zh-CN" sz="2000">
                <a:solidFill>
                  <a:srgbClr val="000000"/>
                </a:solidFill>
                <a:ea typeface="Times New Roman" panose="02020503050405090304"/>
                <a:cs typeface="+mn-lt"/>
                <a:sym typeface="+mn-ea"/>
              </a:rPr>
              <a:t>higher </a:t>
            </a:r>
            <a:r>
              <a:rPr lang="en-US" altLang="zh-CN" sz="2000">
                <a:solidFill>
                  <a:srgbClr val="000000"/>
                </a:solidFill>
                <a:ea typeface="Times New Roman" panose="02020503050405090304"/>
                <a:cs typeface="+mn-lt"/>
                <a:sym typeface="+mn-ea"/>
              </a:rPr>
              <a:t>contrast and </a:t>
            </a:r>
            <a:r>
              <a:rPr lang="en-US" altLang="zh-CN" sz="2000">
                <a:solidFill>
                  <a:srgbClr val="000000"/>
                </a:solidFill>
                <a:ea typeface="Times New Roman" panose="02020503050405090304"/>
                <a:cs typeface="+mn-lt"/>
              </a:rPr>
              <a:t>greater grayscale differences compared to the surrounding areas. Some may even be invisible to the naked eye, but LBP can better capture more subtle, localized changes compared to other methods.</a:t>
            </a:r>
            <a:endParaRPr lang="en-US" altLang="zh-CN" sz="2000">
              <a:solidFill>
                <a:srgbClr val="000000"/>
              </a:solidFill>
              <a:ea typeface="Times New Roman" panose="02020503050405090304"/>
              <a:cs typeface="+mn-lt"/>
            </a:endParaRPr>
          </a:p>
        </p:txBody>
      </p:sp>
      <p:sp>
        <p:nvSpPr>
          <p:cNvPr id="6" name="文本框 5"/>
          <p:cNvSpPr txBox="1"/>
          <p:nvPr/>
        </p:nvSpPr>
        <p:spPr>
          <a:xfrm>
            <a:off x="610870" y="755650"/>
            <a:ext cx="10772775" cy="1014730"/>
          </a:xfrm>
          <a:prstGeom prst="rect">
            <a:avLst/>
          </a:prstGeom>
          <a:noFill/>
        </p:spPr>
        <p:txBody>
          <a:bodyPr wrap="square" rtlCol="0" anchor="t">
            <a:spAutoFit/>
          </a:bodyPr>
          <a:p>
            <a:pPr algn="just"/>
            <a:r>
              <a:rPr lang="en-US" altLang="zh-CN" sz="2000">
                <a:cs typeface="+mn-lt"/>
              </a:rPr>
              <a:t>The following </a:t>
            </a:r>
            <a:r>
              <a:rPr lang="en-US" altLang="zh-CN" sz="2000">
                <a:cs typeface="+mn-lt"/>
              </a:rPr>
              <a:t>parameters were evaluated by ophthalmoscopy with histopathology as the </a:t>
            </a:r>
            <a:r>
              <a:rPr lang="en-US" altLang="zh-CN" sz="2000" b="1">
                <a:cs typeface="+mn-lt"/>
              </a:rPr>
              <a:t>gold standard</a:t>
            </a:r>
            <a:r>
              <a:rPr lang="en-US" altLang="zh-CN" sz="2000">
                <a:cs typeface="+mn-lt"/>
              </a:rPr>
              <a:t>: tumour growth pattern, iris neoangiogenesis, presence of retinal detachment and vitreous seeds, and prelaminar optic nerve involvement. </a:t>
            </a:r>
            <a:r>
              <a:rPr lang="en-US" altLang="zh-CN" sz="2000" baseline="30000">
                <a:cs typeface="+mn-lt"/>
              </a:rPr>
              <a:t>(46)</a:t>
            </a:r>
            <a:endParaRPr lang="zh-CN" altLang="en-US" sz="2000" baseline="30000">
              <a:cs typeface="+mn-lt"/>
            </a:endParaRPr>
          </a:p>
        </p:txBody>
      </p:sp>
      <p:pic>
        <p:nvPicPr>
          <p:cNvPr id="8" name="图片 7"/>
          <p:cNvPicPr>
            <a:picLocks noChangeAspect="1"/>
          </p:cNvPicPr>
          <p:nvPr/>
        </p:nvPicPr>
        <p:blipFill>
          <a:blip r:embed="rId1"/>
          <a:stretch>
            <a:fillRect/>
          </a:stretch>
        </p:blipFill>
        <p:spPr>
          <a:xfrm>
            <a:off x="8829675" y="2267585"/>
            <a:ext cx="3022600" cy="2708275"/>
          </a:xfrm>
          <a:prstGeom prst="rect">
            <a:avLst/>
          </a:prstGeom>
          <a:noFill/>
          <a:ln w="9525">
            <a:noFill/>
          </a:ln>
        </p:spPr>
      </p:pic>
      <p:sp>
        <p:nvSpPr>
          <p:cNvPr id="9" name="文本框 8"/>
          <p:cNvSpPr txBox="1"/>
          <p:nvPr/>
        </p:nvSpPr>
        <p:spPr>
          <a:xfrm>
            <a:off x="9265920" y="4975860"/>
            <a:ext cx="6096000" cy="398780"/>
          </a:xfrm>
          <a:prstGeom prst="rect">
            <a:avLst/>
          </a:prstGeom>
          <a:noFill/>
        </p:spPr>
        <p:txBody>
          <a:bodyPr wrap="square" rtlCol="0" anchor="t">
            <a:spAutoFit/>
          </a:bodyPr>
          <a:p>
            <a:r>
              <a:rPr lang="en-US" altLang="zh-CN" sz="2000" b="1"/>
              <a:t>Vitreous seeding</a:t>
            </a:r>
            <a:endParaRPr lang="en-US" altLang="zh-CN" sz="2000" b="1"/>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030" y="105201"/>
            <a:ext cx="11176000" cy="1147631"/>
          </a:xfrm>
        </p:spPr>
        <p:txBody>
          <a:bodyPr>
            <a:normAutofit/>
          </a:bodyPr>
          <a:lstStyle/>
          <a:p>
            <a:r>
              <a:rPr lang="en-US" altLang="zh-CN" sz="3600" dirty="0">
                <a:latin typeface="+mj-lt"/>
                <a:cs typeface="+mj-lt"/>
              </a:rPr>
              <a:t>Discussion</a:t>
            </a:r>
            <a:endParaRPr lang="en-US" altLang="zh-CN" sz="36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5" name="文本框 4"/>
          <p:cNvSpPr txBox="1"/>
          <p:nvPr/>
        </p:nvSpPr>
        <p:spPr>
          <a:xfrm>
            <a:off x="367030" y="908685"/>
            <a:ext cx="8509635" cy="3451860"/>
          </a:xfrm>
          <a:prstGeom prst="rect">
            <a:avLst/>
          </a:prstGeom>
        </p:spPr>
        <p:txBody>
          <a:bodyPr wrap="square">
            <a:spAutoFit/>
          </a:bodyPr>
          <a:p>
            <a:pPr algn="l">
              <a:lnSpc>
                <a:spcPct val="110000"/>
              </a:lnSpc>
            </a:pPr>
            <a:r>
              <a:rPr lang="en-US" altLang="zh-CN" sz="2400" b="1">
                <a:solidFill>
                  <a:srgbClr val="000000"/>
                </a:solidFill>
                <a:ea typeface="Times New Roman" panose="02020503050405090304"/>
                <a:cs typeface="+mn-lt"/>
              </a:rPr>
              <a:t>·Fractal</a:t>
            </a:r>
            <a:r>
              <a:rPr lang="zh-CN" altLang="en-US" sz="2400" b="1">
                <a:solidFill>
                  <a:srgbClr val="000000"/>
                </a:solidFill>
                <a:ea typeface="宋体" charset="0"/>
                <a:cs typeface="+mn-lt"/>
              </a:rPr>
              <a:t>：</a:t>
            </a:r>
            <a:endParaRPr lang="zh-CN" altLang="en-US" sz="2400" b="1">
              <a:solidFill>
                <a:srgbClr val="000000"/>
              </a:solidFill>
              <a:ea typeface="宋体" charset="0"/>
              <a:cs typeface="+mn-lt"/>
            </a:endParaRPr>
          </a:p>
          <a:p>
            <a:pPr algn="just">
              <a:lnSpc>
                <a:spcPct val="110000"/>
              </a:lnSpc>
            </a:pPr>
            <a:r>
              <a:rPr lang="en-US" altLang="zh-CN" sz="2000">
                <a:solidFill>
                  <a:srgbClr val="000000"/>
                </a:solidFill>
                <a:ea typeface="宋体" charset="0"/>
                <a:cs typeface="+mn-lt"/>
              </a:rPr>
              <a:t>A</a:t>
            </a:r>
            <a:r>
              <a:rPr lang="en-US" altLang="zh-CN" sz="2000">
                <a:solidFill>
                  <a:srgbClr val="000000"/>
                </a:solidFill>
                <a:ea typeface="Times New Roman" panose="02020503050405090304"/>
                <a:cs typeface="+mn-lt"/>
              </a:rPr>
              <a:t>bnormal blood vessels are present on the iris surface. Studies have shown that the fractal dimension exhibits </a:t>
            </a:r>
            <a:r>
              <a:rPr lang="en-US" altLang="zh-CN" sz="2000" u="sng">
                <a:solidFill>
                  <a:srgbClr val="000000"/>
                </a:solidFill>
                <a:ea typeface="Times New Roman" panose="02020503050405090304"/>
                <a:cs typeface="+mn-lt"/>
              </a:rPr>
              <a:t>a high degree of sensitivity </a:t>
            </a:r>
            <a:r>
              <a:rPr lang="en-US" altLang="zh-CN" sz="2000">
                <a:solidFill>
                  <a:srgbClr val="000000"/>
                </a:solidFill>
                <a:ea typeface="Times New Roman" panose="02020503050405090304"/>
                <a:cs typeface="+mn-lt"/>
              </a:rPr>
              <a:t>with respect to new vessel formation</a:t>
            </a:r>
            <a:r>
              <a:rPr lang="en-US" altLang="zh-CN" sz="2000" baseline="30000">
                <a:solidFill>
                  <a:srgbClr val="000000"/>
                </a:solidFill>
                <a:ea typeface="Times New Roman" panose="02020503050405090304"/>
                <a:cs typeface="+mn-lt"/>
              </a:rPr>
              <a:t>(37)</a:t>
            </a:r>
            <a:r>
              <a:rPr lang="en-US" altLang="zh-CN" sz="2000">
                <a:solidFill>
                  <a:srgbClr val="000000"/>
                </a:solidFill>
                <a:ea typeface="Times New Roman" panose="02020503050405090304"/>
                <a:cs typeface="+mn-lt"/>
              </a:rPr>
              <a:t>.</a:t>
            </a:r>
            <a:endParaRPr lang="en-US" altLang="zh-CN" sz="2000">
              <a:solidFill>
                <a:srgbClr val="000000"/>
              </a:solidFill>
              <a:ea typeface="Times New Roman" panose="02020503050405090304"/>
              <a:cs typeface="+mn-lt"/>
            </a:endParaRPr>
          </a:p>
          <a:p>
            <a:pPr algn="just">
              <a:lnSpc>
                <a:spcPct val="110000"/>
              </a:lnSpc>
            </a:pPr>
            <a:endParaRPr lang="en-US" altLang="zh-CN" sz="2000">
              <a:solidFill>
                <a:srgbClr val="000000"/>
              </a:solidFill>
              <a:ea typeface="Times New Roman" panose="02020503050405090304"/>
              <a:cs typeface="+mn-lt"/>
            </a:endParaRPr>
          </a:p>
          <a:p>
            <a:pPr algn="just"/>
            <a:r>
              <a:rPr lang="en-US" altLang="zh-CN" sz="2400" b="1">
                <a:solidFill>
                  <a:srgbClr val="000000"/>
                </a:solidFill>
                <a:ea typeface="Times New Roman" panose="02020503050405090304"/>
                <a:cs typeface="+mn-lt"/>
              </a:rPr>
              <a:t>·Haralick</a:t>
            </a:r>
            <a:r>
              <a:rPr lang="zh-CN" altLang="en-US" sz="2400" b="1">
                <a:solidFill>
                  <a:srgbClr val="000000"/>
                </a:solidFill>
                <a:ea typeface="宋体" charset="0"/>
                <a:cs typeface="+mn-lt"/>
              </a:rPr>
              <a:t>：</a:t>
            </a:r>
            <a:endParaRPr lang="zh-CN" altLang="en-US" sz="2400" b="1">
              <a:solidFill>
                <a:srgbClr val="000000"/>
              </a:solidFill>
              <a:ea typeface="宋体" charset="0"/>
              <a:cs typeface="+mn-lt"/>
            </a:endParaRPr>
          </a:p>
          <a:p>
            <a:pPr algn="just"/>
            <a:r>
              <a:rPr lang="en-US" altLang="zh-CN" sz="2000" u="sng">
                <a:solidFill>
                  <a:srgbClr val="000000"/>
                </a:solidFill>
                <a:ea typeface="Times New Roman" panose="02020503050405090304"/>
                <a:cs typeface="+mn-lt"/>
              </a:rPr>
              <a:t>entropy, mean value, contrast, and correlation </a:t>
            </a:r>
            <a:r>
              <a:rPr lang="en-US" altLang="zh-CN" sz="2000">
                <a:solidFill>
                  <a:srgbClr val="000000"/>
                </a:solidFill>
                <a:ea typeface="Times New Roman" panose="02020503050405090304"/>
                <a:cs typeface="+mn-lt"/>
              </a:rPr>
              <a:t>based on MR images showed statistically significant differences between benign and malignant orbital tumor groups, suggesting a potential correlation between RB tumor changes and pixel gray-level statistics</a:t>
            </a:r>
            <a:r>
              <a:rPr lang="en-US" altLang="zh-CN" sz="2000" baseline="30000">
                <a:solidFill>
                  <a:srgbClr val="000000"/>
                </a:solidFill>
                <a:ea typeface="Times New Roman" panose="02020503050405090304"/>
                <a:cs typeface="+mn-lt"/>
              </a:rPr>
              <a:t>(49)</a:t>
            </a:r>
            <a:r>
              <a:rPr lang="en-US" altLang="zh-CN" sz="2000">
                <a:solidFill>
                  <a:srgbClr val="000000"/>
                </a:solidFill>
                <a:ea typeface="Times New Roman" panose="02020503050405090304"/>
                <a:cs typeface="+mn-lt"/>
              </a:rPr>
              <a:t>. </a:t>
            </a:r>
            <a:endParaRPr lang="en-US" altLang="zh-CN" sz="2000">
              <a:solidFill>
                <a:srgbClr val="000000"/>
              </a:solidFill>
              <a:ea typeface="Times New Roman" panose="02020503050405090304"/>
              <a:cs typeface="+mn-lt"/>
            </a:endParaRPr>
          </a:p>
        </p:txBody>
      </p:sp>
      <p:pic>
        <p:nvPicPr>
          <p:cNvPr id="3" name="图片 2"/>
          <p:cNvPicPr>
            <a:picLocks noChangeAspect="1"/>
          </p:cNvPicPr>
          <p:nvPr/>
        </p:nvPicPr>
        <p:blipFill>
          <a:blip r:embed="rId1"/>
          <a:stretch>
            <a:fillRect/>
          </a:stretch>
        </p:blipFill>
        <p:spPr>
          <a:xfrm>
            <a:off x="9144000" y="1920875"/>
            <a:ext cx="2540635" cy="2773045"/>
          </a:xfrm>
          <a:prstGeom prst="rect">
            <a:avLst/>
          </a:prstGeom>
          <a:noFill/>
          <a:ln w="9525">
            <a:noFill/>
          </a:ln>
        </p:spPr>
      </p:pic>
      <p:sp>
        <p:nvSpPr>
          <p:cNvPr id="6" name="文本框 5"/>
          <p:cNvSpPr txBox="1"/>
          <p:nvPr/>
        </p:nvSpPr>
        <p:spPr>
          <a:xfrm>
            <a:off x="9144000" y="4901565"/>
            <a:ext cx="6096000" cy="398780"/>
          </a:xfrm>
          <a:prstGeom prst="rect">
            <a:avLst/>
          </a:prstGeom>
          <a:noFill/>
        </p:spPr>
        <p:txBody>
          <a:bodyPr wrap="square" rtlCol="0" anchor="t">
            <a:spAutoFit/>
          </a:bodyPr>
          <a:p>
            <a:r>
              <a:rPr lang="en-US" altLang="zh-CN" sz="2000" b="1">
                <a:sym typeface="+mn-ea"/>
              </a:rPr>
              <a:t> iris neoangiogenesis</a:t>
            </a:r>
            <a:endParaRPr lang="en-US" altLang="zh-CN" sz="2000" b="1">
              <a:sym typeface="+mn-ea"/>
            </a:endParaRPr>
          </a:p>
        </p:txBody>
      </p:sp>
      <p:sp>
        <p:nvSpPr>
          <p:cNvPr id="7" name="文本框 6"/>
          <p:cNvSpPr txBox="1"/>
          <p:nvPr/>
        </p:nvSpPr>
        <p:spPr>
          <a:xfrm>
            <a:off x="367030" y="4451985"/>
            <a:ext cx="8510270" cy="1691640"/>
          </a:xfrm>
          <a:prstGeom prst="rect">
            <a:avLst/>
          </a:prstGeom>
        </p:spPr>
        <p:txBody>
          <a:bodyPr wrap="square">
            <a:spAutoFit/>
          </a:bodyPr>
          <a:p>
            <a:pPr algn="just"/>
            <a:r>
              <a:rPr lang="en-US" altLang="zh-CN" sz="2400" b="1">
                <a:solidFill>
                  <a:srgbClr val="000000"/>
                </a:solidFill>
                <a:ea typeface="Times New Roman" panose="02020503050405090304"/>
                <a:cs typeface="+mn-lt"/>
              </a:rPr>
              <a:t>·HOS</a:t>
            </a:r>
            <a:r>
              <a:rPr lang="zh-CN" altLang="en-US" sz="2400" b="1">
                <a:solidFill>
                  <a:srgbClr val="000000"/>
                </a:solidFill>
                <a:ea typeface="宋体" charset="0"/>
                <a:cs typeface="+mn-lt"/>
              </a:rPr>
              <a:t>：</a:t>
            </a:r>
            <a:endParaRPr lang="zh-CN" altLang="en-US" sz="2400" b="1">
              <a:solidFill>
                <a:srgbClr val="000000"/>
              </a:solidFill>
              <a:ea typeface="宋体" charset="0"/>
              <a:cs typeface="+mn-lt"/>
            </a:endParaRPr>
          </a:p>
          <a:p>
            <a:pPr algn="just"/>
            <a:r>
              <a:rPr lang="en-US" altLang="zh-CN" sz="2000">
                <a:solidFill>
                  <a:srgbClr val="000000"/>
                </a:solidFill>
                <a:ea typeface="Times New Roman" panose="02020503050405090304"/>
                <a:cs typeface="+mn-lt"/>
              </a:rPr>
              <a:t>The relatively low AUC of HOS in this study may be attributed to it is sensitive to image illumination conditions, studies have shown that UWF images may exhibit peripheral distortion and unnatural colors in the retina</a:t>
            </a:r>
            <a:r>
              <a:rPr lang="en-US" altLang="zh-CN" sz="2000" baseline="30000">
                <a:solidFill>
                  <a:srgbClr val="000000"/>
                </a:solidFill>
                <a:ea typeface="Times New Roman" panose="02020503050405090304"/>
                <a:cs typeface="+mn-lt"/>
              </a:rPr>
              <a:t>(51)</a:t>
            </a:r>
            <a:endParaRPr lang="en-US" altLang="zh-CN" sz="2000" baseline="30000">
              <a:solidFill>
                <a:srgbClr val="000000"/>
              </a:solidFill>
              <a:ea typeface="Times New Roman" panose="02020503050405090304"/>
              <a:cs typeface="+mn-l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9"/>
            <a:ext cx="11176000" cy="1147631"/>
          </a:xfrm>
        </p:spPr>
        <p:txBody>
          <a:bodyPr>
            <a:normAutofit/>
          </a:bodyPr>
          <a:lstStyle/>
          <a:p>
            <a:r>
              <a:rPr lang="en-US" altLang="zh-CN" sz="3600" dirty="0">
                <a:latin typeface="+mj-lt"/>
                <a:cs typeface="+mj-lt"/>
              </a:rPr>
              <a:t>Discussion</a:t>
            </a:r>
            <a:endParaRPr lang="en-US" altLang="zh-CN" sz="44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7" name="文本框 6"/>
          <p:cNvSpPr txBox="1"/>
          <p:nvPr/>
        </p:nvSpPr>
        <p:spPr>
          <a:xfrm>
            <a:off x="508000" y="644525"/>
            <a:ext cx="11317605" cy="3107690"/>
          </a:xfrm>
          <a:prstGeom prst="rect">
            <a:avLst/>
          </a:prstGeom>
        </p:spPr>
        <p:txBody>
          <a:bodyPr wrap="square">
            <a:spAutoFit/>
          </a:bodyPr>
          <a:p>
            <a:pPr algn="just">
              <a:lnSpc>
                <a:spcPct val="100000"/>
              </a:lnSpc>
            </a:pPr>
            <a:r>
              <a:rPr lang="en-US" altLang="zh-CN" sz="2000" b="1">
                <a:solidFill>
                  <a:srgbClr val="000000"/>
                </a:solidFill>
                <a:ea typeface="Times New Roman" panose="02020503050405090304"/>
                <a:cs typeface="+mn-lt"/>
              </a:rPr>
              <a:t>·</a:t>
            </a:r>
            <a:r>
              <a:rPr lang="en-US" altLang="zh-CN" sz="2400" b="1">
                <a:solidFill>
                  <a:srgbClr val="000000"/>
                </a:solidFill>
                <a:ea typeface="Times New Roman" panose="02020503050405090304"/>
                <a:cs typeface="+mn-lt"/>
              </a:rPr>
              <a:t>Strength</a:t>
            </a:r>
            <a:r>
              <a:rPr lang="zh-CN" altLang="en-US" sz="2000" b="1">
                <a:solidFill>
                  <a:srgbClr val="000000"/>
                </a:solidFill>
                <a:ea typeface="宋体" charset="0"/>
                <a:cs typeface="+mn-lt"/>
              </a:rPr>
              <a:t>：</a:t>
            </a:r>
            <a:endParaRPr lang="zh-CN" altLang="en-US" sz="2000" b="1">
              <a:solidFill>
                <a:srgbClr val="000000"/>
              </a:solidFill>
              <a:ea typeface="宋体" charset="0"/>
              <a:cs typeface="+mn-lt"/>
            </a:endParaRPr>
          </a:p>
          <a:p>
            <a:pPr algn="just">
              <a:lnSpc>
                <a:spcPct val="100000"/>
              </a:lnSpc>
            </a:pPr>
            <a:r>
              <a:rPr lang="en-US" altLang="zh-CN" sz="2000">
                <a:solidFill>
                  <a:srgbClr val="000000"/>
                </a:solidFill>
                <a:ea typeface="宋体" charset="0"/>
                <a:cs typeface="+mn-lt"/>
              </a:rPr>
              <a:t>1.</a:t>
            </a:r>
            <a:r>
              <a:rPr lang="en-US" altLang="zh-CN" sz="2000">
                <a:solidFill>
                  <a:srgbClr val="000000"/>
                </a:solidFill>
                <a:ea typeface="Times New Roman" panose="02020503050405090304"/>
                <a:cs typeface="+mn-lt"/>
              </a:rPr>
              <a:t> Innovative exploration of using texture-based logistic regression classifier compared to previous CNN- based methods, it achieves comparable performance while enhancing model interpretability.</a:t>
            </a:r>
            <a:endParaRPr lang="en-US" altLang="zh-CN" sz="2000">
              <a:solidFill>
                <a:srgbClr val="000000"/>
              </a:solidFill>
              <a:ea typeface="Times New Roman" panose="02020503050405090304"/>
              <a:cs typeface="+mn-lt"/>
            </a:endParaRPr>
          </a:p>
          <a:p>
            <a:pPr algn="just">
              <a:lnSpc>
                <a:spcPct val="90000"/>
              </a:lnSpc>
            </a:pPr>
            <a:r>
              <a:rPr lang="en-US" altLang="zh-CN" sz="2000">
                <a:solidFill>
                  <a:srgbClr val="000000"/>
                </a:solidFill>
                <a:ea typeface="Times New Roman" panose="02020503050405090304"/>
                <a:cs typeface="+mn-lt"/>
              </a:rPr>
              <a:t>2. Emerging UWF imaging systems can capture 200° panoramic retinal images, in contrast to the 30° to 45° field of view provided by traditional color fundus photography</a:t>
            </a:r>
            <a:r>
              <a:rPr lang="en-US" altLang="zh-CN" sz="2000" baseline="30000">
                <a:solidFill>
                  <a:srgbClr val="000000"/>
                </a:solidFill>
                <a:ea typeface="Times New Roman" panose="02020503050405090304"/>
                <a:cs typeface="+mn-lt"/>
              </a:rPr>
              <a:t>(52)</a:t>
            </a:r>
            <a:r>
              <a:rPr lang="en-US" altLang="zh-CN" sz="2000">
                <a:solidFill>
                  <a:srgbClr val="000000"/>
                </a:solidFill>
                <a:ea typeface="Times New Roman" panose="02020503050405090304"/>
                <a:cs typeface="+mn-lt"/>
              </a:rPr>
              <a:t>.  it facilitates early lesion identification and enables more accurate monitoring of tumor progression s</a:t>
            </a:r>
            <a:r>
              <a:rPr lang="en-US" altLang="zh-CN" sz="2000">
                <a:solidFill>
                  <a:srgbClr val="000000"/>
                </a:solidFill>
                <a:ea typeface="Times New Roman" panose="02020503050405090304"/>
                <a:cs typeface="+mn-lt"/>
                <a:sym typeface="+mn-ea"/>
              </a:rPr>
              <a:t>ince tumors often extend to or originate in the peripheral retina</a:t>
            </a:r>
            <a:r>
              <a:rPr lang="en-US" altLang="zh-CN" sz="2000" baseline="30000">
                <a:solidFill>
                  <a:srgbClr val="000000"/>
                </a:solidFill>
                <a:ea typeface="Times New Roman" panose="02020503050405090304"/>
                <a:cs typeface="+mn-lt"/>
                <a:sym typeface="+mn-ea"/>
              </a:rPr>
              <a:t>(53)</a:t>
            </a:r>
            <a:endParaRPr lang="en-US" altLang="zh-CN" sz="2000">
              <a:solidFill>
                <a:srgbClr val="000000"/>
              </a:solidFill>
              <a:ea typeface="Times New Roman" panose="02020503050405090304"/>
              <a:cs typeface="+mn-lt"/>
            </a:endParaRPr>
          </a:p>
          <a:p>
            <a:pPr algn="just">
              <a:lnSpc>
                <a:spcPct val="100000"/>
              </a:lnSpc>
            </a:pPr>
            <a:endParaRPr lang="en-US" altLang="zh-CN" sz="2000">
              <a:solidFill>
                <a:srgbClr val="000000"/>
              </a:solidFill>
              <a:ea typeface="Times New Roman" panose="02020503050405090304"/>
              <a:cs typeface="+mn-lt"/>
            </a:endParaRPr>
          </a:p>
          <a:p>
            <a:pPr algn="just">
              <a:lnSpc>
                <a:spcPct val="100000"/>
              </a:lnSpc>
            </a:pPr>
            <a:endParaRPr lang="en-US" altLang="zh-CN" sz="2000">
              <a:solidFill>
                <a:srgbClr val="000000"/>
              </a:solidFill>
              <a:ea typeface="Times New Roman" panose="02020503050405090304"/>
              <a:cs typeface="+mn-lt"/>
            </a:endParaRPr>
          </a:p>
        </p:txBody>
      </p:sp>
      <p:sp>
        <p:nvSpPr>
          <p:cNvPr id="3" name="文本框 2"/>
          <p:cNvSpPr txBox="1"/>
          <p:nvPr/>
        </p:nvSpPr>
        <p:spPr>
          <a:xfrm>
            <a:off x="508000" y="3248660"/>
            <a:ext cx="11316970" cy="3107690"/>
          </a:xfrm>
          <a:prstGeom prst="rect">
            <a:avLst/>
          </a:prstGeom>
        </p:spPr>
        <p:txBody>
          <a:bodyPr wrap="square">
            <a:spAutoFit/>
          </a:bodyPr>
          <a:p>
            <a:pPr algn="just"/>
            <a:r>
              <a:rPr lang="en-US" altLang="zh-CN" sz="2400" b="1">
                <a:solidFill>
                  <a:srgbClr val="000000"/>
                </a:solidFill>
                <a:ea typeface="Times New Roman" panose="02020503050405090304"/>
                <a:cs typeface="+mn-lt"/>
              </a:rPr>
              <a:t>·limitations</a:t>
            </a:r>
            <a:r>
              <a:rPr lang="zh-CN" altLang="en-US" sz="2000" b="1">
                <a:solidFill>
                  <a:srgbClr val="000000"/>
                </a:solidFill>
                <a:ea typeface="宋体" charset="0"/>
                <a:cs typeface="+mn-lt"/>
              </a:rPr>
              <a:t>：</a:t>
            </a:r>
            <a:endParaRPr lang="zh-CN" altLang="en-US" sz="2000" b="1">
              <a:solidFill>
                <a:srgbClr val="000000"/>
              </a:solidFill>
              <a:ea typeface="宋体" charset="0"/>
              <a:cs typeface="+mn-lt"/>
            </a:endParaRPr>
          </a:p>
          <a:p>
            <a:pPr algn="just"/>
            <a:r>
              <a:rPr lang="en-US" altLang="zh-CN" sz="2000">
                <a:solidFill>
                  <a:srgbClr val="000000"/>
                </a:solidFill>
                <a:ea typeface="宋体" charset="0"/>
                <a:cs typeface="+mn-lt"/>
              </a:rPr>
              <a:t>1. </a:t>
            </a:r>
            <a:r>
              <a:rPr lang="en-US" altLang="zh-CN" sz="2000">
                <a:solidFill>
                  <a:srgbClr val="000000"/>
                </a:solidFill>
                <a:ea typeface="Times New Roman" panose="02020503050405090304"/>
                <a:cs typeface="+mn-lt"/>
              </a:rPr>
              <a:t> relatively small sample size .</a:t>
            </a:r>
            <a:endParaRPr lang="en-US" altLang="zh-CN" sz="2000">
              <a:solidFill>
                <a:srgbClr val="000000"/>
              </a:solidFill>
              <a:ea typeface="Times New Roman" panose="02020503050405090304"/>
              <a:cs typeface="+mn-lt"/>
            </a:endParaRPr>
          </a:p>
          <a:p>
            <a:pPr algn="just">
              <a:lnSpc>
                <a:spcPct val="80000"/>
              </a:lnSpc>
            </a:pPr>
            <a:r>
              <a:rPr lang="en-US" altLang="zh-CN" sz="2000">
                <a:solidFill>
                  <a:srgbClr val="000000"/>
                </a:solidFill>
                <a:ea typeface="Times New Roman" panose="02020503050405090304"/>
                <a:cs typeface="+mn-lt"/>
              </a:rPr>
              <a:t>2.  </a:t>
            </a:r>
            <a:r>
              <a:rPr lang="en-US" altLang="zh-CN" sz="2000">
                <a:solidFill>
                  <a:srgbClr val="000000"/>
                </a:solidFill>
                <a:ea typeface="Times New Roman" panose="02020503050405090304"/>
                <a:cs typeface="+mn-lt"/>
                <a:sym typeface="+mn-ea"/>
              </a:rPr>
              <a:t>merely exploratory study, i</a:t>
            </a:r>
            <a:r>
              <a:rPr lang="en-US" altLang="zh-CN" sz="2000">
                <a:solidFill>
                  <a:srgbClr val="000000"/>
                </a:solidFill>
                <a:ea typeface="Times New Roman" panose="02020503050405090304"/>
                <a:cs typeface="+mn-lt"/>
              </a:rPr>
              <a:t>t did not include more detailed </a:t>
            </a:r>
            <a:r>
              <a:rPr lang="en-US" altLang="zh-CN" sz="2000">
                <a:solidFill>
                  <a:srgbClr val="000000"/>
                </a:solidFill>
                <a:ea typeface="Times New Roman" panose="02020503050405090304"/>
                <a:cs typeface="+mn-lt"/>
              </a:rPr>
              <a:t>info like staging classification </a:t>
            </a:r>
            <a:r>
              <a:rPr lang="en-US" altLang="zh-CN" sz="2000">
                <a:solidFill>
                  <a:srgbClr val="000000"/>
                </a:solidFill>
                <a:ea typeface="Times New Roman" panose="02020503050405090304"/>
                <a:cs typeface="+mn-lt"/>
                <a:sym typeface="+mn-ea"/>
              </a:rPr>
              <a:t>and relevant clinical data</a:t>
            </a:r>
            <a:r>
              <a:rPr lang="en-US" altLang="zh-CN" sz="2000">
                <a:solidFill>
                  <a:srgbClr val="000000"/>
                </a:solidFill>
                <a:ea typeface="Times New Roman" panose="02020503050405090304"/>
                <a:cs typeface="+mn-lt"/>
              </a:rPr>
              <a:t>, which limited more in-depth clinical research and failed to fully reflect the complexity and variability encountered in clinical practice, its effectiveness and reliability in actual medical applications remain unclear. </a:t>
            </a:r>
            <a:endParaRPr lang="en-US" altLang="zh-CN" sz="2000">
              <a:solidFill>
                <a:srgbClr val="000000"/>
              </a:solidFill>
              <a:ea typeface="Times New Roman" panose="02020503050405090304"/>
              <a:cs typeface="+mn-lt"/>
            </a:endParaRPr>
          </a:p>
          <a:p>
            <a:pPr algn="just"/>
            <a:endParaRPr lang="en-US" altLang="zh-CN" sz="2400">
              <a:solidFill>
                <a:srgbClr val="000000"/>
              </a:solidFill>
              <a:ea typeface="Times New Roman" panose="02020503050405090304"/>
              <a:cs typeface="+mn-lt"/>
            </a:endParaRPr>
          </a:p>
          <a:p>
            <a:pPr algn="just"/>
            <a:r>
              <a:rPr lang="en-US" altLang="zh-CN" sz="2400" b="1">
                <a:solidFill>
                  <a:srgbClr val="000000"/>
                </a:solidFill>
                <a:ea typeface="Times New Roman" panose="02020503050405090304"/>
                <a:cs typeface="+mn-lt"/>
              </a:rPr>
              <a:t>·Future research</a:t>
            </a:r>
            <a:r>
              <a:rPr lang="zh-CN" altLang="en-US" sz="2400" b="1">
                <a:solidFill>
                  <a:srgbClr val="000000"/>
                </a:solidFill>
                <a:ea typeface="宋体" charset="0"/>
                <a:cs typeface="+mn-lt"/>
              </a:rPr>
              <a:t>：</a:t>
            </a:r>
            <a:endParaRPr lang="zh-CN" altLang="en-US" sz="2400" b="1">
              <a:solidFill>
                <a:srgbClr val="000000"/>
              </a:solidFill>
              <a:ea typeface="宋体" charset="0"/>
              <a:cs typeface="+mn-lt"/>
            </a:endParaRPr>
          </a:p>
          <a:p>
            <a:pPr algn="just"/>
            <a:r>
              <a:rPr lang="en-US" altLang="zh-CN" sz="2000">
                <a:solidFill>
                  <a:srgbClr val="000000"/>
                </a:solidFill>
                <a:ea typeface="Times New Roman" panose="02020503050405090304"/>
                <a:cs typeface="+mn-lt"/>
              </a:rPr>
              <a:t>incorporating more diverse and representative datasets, including those with a typical or ambiguous presentations, as well as richer background information. </a:t>
            </a:r>
            <a:endParaRPr lang="en-US" altLang="zh-CN" sz="2000">
              <a:solidFill>
                <a:srgbClr val="000000"/>
              </a:solidFill>
              <a:ea typeface="Times New Roman" panose="02020503050405090304"/>
              <a:cs typeface="+mn-lt"/>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09"/>
            <a:ext cx="11176000" cy="1147631"/>
          </a:xfrm>
        </p:spPr>
        <p:txBody>
          <a:bodyPr>
            <a:normAutofit/>
          </a:bodyPr>
          <a:lstStyle/>
          <a:p>
            <a:r>
              <a:rPr lang="en-US" altLang="zh-CN" sz="3600" dirty="0">
                <a:latin typeface="+mj-lt"/>
                <a:cs typeface="+mj-lt"/>
              </a:rPr>
              <a:t>Reference</a:t>
            </a:r>
            <a:endParaRPr lang="en-US" altLang="zh-CN" sz="4400"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
        <p:nvSpPr>
          <p:cNvPr id="5" name="文本框 4"/>
          <p:cNvSpPr txBox="1"/>
          <p:nvPr/>
        </p:nvSpPr>
        <p:spPr>
          <a:xfrm>
            <a:off x="597535" y="694690"/>
            <a:ext cx="10996930" cy="12236450"/>
          </a:xfrm>
          <a:prstGeom prst="rect">
            <a:avLst/>
          </a:prstGeom>
        </p:spPr>
        <p:txBody>
          <a:bodyPr>
            <a:noAutofit/>
          </a:bodyPr>
          <a:p>
            <a:pPr marL="0" indent="0" algn="just" defTabSz="266700">
              <a:spcBef>
                <a:spcPct val="0"/>
              </a:spcBef>
              <a:spcAft>
                <a:spcPct val="0"/>
              </a:spcAft>
            </a:pPr>
            <a:r>
              <a:rPr lang="en-US" altLang="zh-CN" sz="700">
                <a:latin typeface="Times New Roman Regular" panose="02020503050405090304"/>
                <a:ea typeface="宋体"/>
              </a:rPr>
              <a:t>1.	Dimaras H, Corson TW. Retinoblastoma, the visible CNS tumor: A review. J Neurosci Res. 2019;97(1):29–44.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	Byroju VV, Nadukkandy AS, Cordani M, Kumar LD. Retinoblastoma: present scenario and future challenges. Cell Commun Signal. 2023;21(1):226.</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	Warda O, Naeem Z, Roelofs KA, Sagoo MS, Reddy MA. Retinoblastoma and vision. Eye (Lond). 2023;37(5):797–808.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	Shields CL, Shields JA. Here Comes the Sun … for Retinoblastoma. Asia Pac J Ophthalmol (Phila). 2021;10(4):341–2.</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5.	Tomar AS, Finger PT, Gallie B, Mallipatna A, Kivel</a:t>
            </a:r>
            <a:r>
              <a:rPr lang="en-US" altLang="en-US" sz="700">
                <a:latin typeface="Times New Roman Regular" panose="02020503050405090304"/>
                <a:ea typeface="宋体"/>
              </a:rPr>
              <a:t>ä</a:t>
            </a:r>
            <a:r>
              <a:rPr lang="en-US" altLang="zh-CN" sz="700">
                <a:latin typeface="Times New Roman Regular" panose="02020503050405090304"/>
                <a:ea typeface="宋体"/>
              </a:rPr>
              <a:t> TT, Zhang C, et al. A Multicenter, International Collaborative Study for American Joint Committee on Cancer Staging of Retinoblastoma: Part I: Metastasis-Associated Mortality. Ophthalmology. 2020;127(12):1719–32.</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6.	Zhao J, Feng ZX, Wei M, Liu G, Solarte CE, Li B, et al. Impact of Systemic Chemotherapy and Delayed Enucleation on Survival of Children with Advanced Intraocular Retinoblastoma. Ophthalmol Retina. 2020;4(6):630–9.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7.	Nummi K, Kivel</a:t>
            </a:r>
            <a:r>
              <a:rPr lang="en-US" altLang="en-US" sz="700">
                <a:latin typeface="Times New Roman Regular" panose="02020503050405090304"/>
                <a:ea typeface="宋体"/>
              </a:rPr>
              <a:t>ä</a:t>
            </a:r>
            <a:r>
              <a:rPr lang="en-US" altLang="zh-CN" sz="700">
                <a:latin typeface="Times New Roman Regular" panose="02020503050405090304"/>
                <a:ea typeface="宋体"/>
              </a:rPr>
              <a:t> TT. Retinoblastoma in Finland, 1964-2014: incidence and survival. Br J Ophthalmol. 2021;105(1):63–9.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8.	</a:t>
            </a:r>
            <a:r>
              <a:rPr lang="zh-CN" altLang="en-US" sz="700">
                <a:latin typeface="Times New Roman Regular" panose="02020503050405090304"/>
                <a:ea typeface="宋体"/>
              </a:rPr>
              <a:t>周宇</a:t>
            </a:r>
            <a:r>
              <a:rPr lang="en-US" altLang="zh-CN" sz="700">
                <a:latin typeface="Times New Roman Regular" panose="02020503050405090304"/>
                <a:ea typeface="宋体"/>
              </a:rPr>
              <a:t>, </a:t>
            </a:r>
            <a:r>
              <a:rPr lang="zh-CN" altLang="en-US" sz="700">
                <a:latin typeface="Times New Roman Regular" panose="02020503050405090304"/>
                <a:ea typeface="宋体"/>
              </a:rPr>
              <a:t>艾彬</a:t>
            </a:r>
            <a:r>
              <a:rPr lang="en-US" altLang="zh-CN" sz="700">
                <a:latin typeface="Times New Roman Regular" panose="02020503050405090304"/>
                <a:ea typeface="宋体"/>
              </a:rPr>
              <a:t>, </a:t>
            </a:r>
            <a:r>
              <a:rPr lang="zh-CN" altLang="en-US" sz="700">
                <a:latin typeface="Times New Roman Regular" panose="02020503050405090304"/>
                <a:ea typeface="宋体"/>
              </a:rPr>
              <a:t>潘佳豪</a:t>
            </a:r>
            <a:r>
              <a:rPr lang="en-US" altLang="zh-CN" sz="700">
                <a:latin typeface="Times New Roman Regular" panose="02020503050405090304"/>
                <a:ea typeface="宋体"/>
              </a:rPr>
              <a:t>, </a:t>
            </a:r>
            <a:r>
              <a:rPr lang="zh-CN" altLang="en-US" sz="700">
                <a:latin typeface="Times New Roman Regular" panose="02020503050405090304"/>
                <a:ea typeface="宋体"/>
              </a:rPr>
              <a:t>刘航宇</a:t>
            </a:r>
            <a:r>
              <a:rPr lang="en-US" altLang="zh-CN" sz="700">
                <a:latin typeface="Times New Roman Regular" panose="02020503050405090304"/>
                <a:ea typeface="宋体"/>
              </a:rPr>
              <a:t>, </a:t>
            </a:r>
            <a:r>
              <a:rPr lang="zh-CN" altLang="en-US" sz="700">
                <a:latin typeface="Times New Roman Regular" panose="02020503050405090304"/>
                <a:ea typeface="宋体"/>
              </a:rPr>
              <a:t>张裕</a:t>
            </a:r>
            <a:r>
              <a:rPr lang="en-US" altLang="zh-CN" sz="700">
                <a:latin typeface="Times New Roman Regular" panose="02020503050405090304"/>
                <a:ea typeface="宋体"/>
              </a:rPr>
              <a:t>. 1990</a:t>
            </a:r>
            <a:r>
              <a:rPr lang="zh-CN" altLang="en-US" sz="700">
                <a:latin typeface="Times New Roman Regular" panose="02020503050405090304"/>
                <a:ea typeface="宋体"/>
              </a:rPr>
              <a:t>－</a:t>
            </a:r>
            <a:r>
              <a:rPr lang="en-US" altLang="zh-CN" sz="700">
                <a:latin typeface="Times New Roman Regular" panose="02020503050405090304"/>
                <a:ea typeface="宋体"/>
              </a:rPr>
              <a:t>2021</a:t>
            </a:r>
            <a:r>
              <a:rPr lang="zh-CN" altLang="en-US" sz="700">
                <a:latin typeface="Times New Roman Regular" panose="02020503050405090304"/>
                <a:ea typeface="宋体"/>
              </a:rPr>
              <a:t>年全球和中国</a:t>
            </a:r>
            <a:r>
              <a:rPr lang="en-US" altLang="zh-CN" sz="700">
                <a:latin typeface="Times New Roman Regular" panose="02020503050405090304"/>
                <a:ea typeface="宋体"/>
              </a:rPr>
              <a:t>10</a:t>
            </a:r>
            <a:r>
              <a:rPr lang="zh-CN" altLang="en-US" sz="700">
                <a:latin typeface="Times New Roman Regular" panose="02020503050405090304"/>
                <a:ea typeface="宋体"/>
              </a:rPr>
              <a:t>岁以下儿童视网膜母细胞瘤疾病负担</a:t>
            </a:r>
            <a:r>
              <a:rPr lang="en-US" altLang="zh-CN" sz="700">
                <a:latin typeface="Times New Roman Regular" panose="02020503050405090304"/>
                <a:ea typeface="宋体"/>
              </a:rPr>
              <a:t>. </a:t>
            </a:r>
            <a:r>
              <a:rPr lang="zh-CN" altLang="en-US" sz="700">
                <a:latin typeface="Times New Roman Regular" panose="02020503050405090304"/>
                <a:ea typeface="宋体"/>
              </a:rPr>
              <a:t>海军军医大学学报</a:t>
            </a:r>
            <a:r>
              <a:rPr lang="en-US" altLang="zh-CN" sz="700">
                <a:latin typeface="Times New Roman Regular" panose="02020503050405090304"/>
                <a:ea typeface="宋体"/>
              </a:rPr>
              <a:t>.1–9.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9.	Sun J, Zhao X, Chen S, Zhang Y, Ren H, Sun Y, et al. An ultra-wide-field fundus image dataset for intelligent diagnosis of intraocular tumors. Sci Data. 2025;12(1):1521.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10.	</a:t>
            </a:r>
            <a:r>
              <a:rPr lang="zh-CN" altLang="en-US" sz="700">
                <a:latin typeface="Times New Roman Regular" panose="02020503050405090304"/>
                <a:ea typeface="宋体"/>
              </a:rPr>
              <a:t>崔雪皓</a:t>
            </a:r>
            <a:r>
              <a:rPr lang="en-US" altLang="zh-CN" sz="700">
                <a:latin typeface="Times New Roman Regular" panose="02020503050405090304"/>
                <a:ea typeface="宋体"/>
              </a:rPr>
              <a:t>, </a:t>
            </a:r>
            <a:r>
              <a:rPr lang="zh-CN" altLang="en-US" sz="700">
                <a:latin typeface="Times New Roman Regular" panose="02020503050405090304"/>
                <a:ea typeface="宋体"/>
              </a:rPr>
              <a:t>李筱荣</a:t>
            </a:r>
            <a:r>
              <a:rPr lang="en-US" altLang="zh-CN" sz="700">
                <a:latin typeface="Times New Roman Regular" panose="02020503050405090304"/>
                <a:ea typeface="宋体"/>
              </a:rPr>
              <a:t>. </a:t>
            </a:r>
            <a:r>
              <a:rPr lang="zh-CN" altLang="en-US" sz="700">
                <a:latin typeface="Times New Roman Regular" panose="02020503050405090304"/>
                <a:ea typeface="宋体"/>
              </a:rPr>
              <a:t>视网膜母细胞瘤诊断和治疗的研究进展</a:t>
            </a:r>
            <a:r>
              <a:rPr lang="en-US" altLang="zh-CN" sz="700">
                <a:latin typeface="Times New Roman Regular" panose="02020503050405090304"/>
                <a:ea typeface="宋体"/>
              </a:rPr>
              <a:t>. </a:t>
            </a:r>
            <a:r>
              <a:rPr lang="zh-CN" altLang="en-US" sz="700">
                <a:latin typeface="Times New Roman Regular" panose="02020503050405090304"/>
                <a:ea typeface="宋体"/>
              </a:rPr>
              <a:t>眼科新进展</a:t>
            </a:r>
            <a:r>
              <a:rPr lang="en-US" altLang="zh-CN" sz="700">
                <a:latin typeface="Times New Roman Regular" panose="02020503050405090304"/>
                <a:ea typeface="宋体"/>
              </a:rPr>
              <a:t>. 2022;42(08):634–8.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11.	Monroe EJ, Chick JFB, Stacey AW, Millard NE, Geyer JR, Ramoso LR, et al. Radiation dose reduction during intra-arterial chemotherapy for retinoblastoma: a retrospective analysis of 96 consecutive pediatric interventions using five distinct protocols. Pediatr Radiol. 2021;51(4):649–57.</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12.	Torres-Netto EA, Gabel-Obermaier C, Gabel P, Gloor B, Wiedemann P, Taylor H, et al. Twenty years of International Council of Ophthalmology fellowships: description of the programme and the impact on more than 1100 awardees. Br J Ophthalmol. 2021;105(9):1318–24.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13.	Chen S, Chen X, Qiu J, Chen P, Han X, Wu Y, et al. Exosomes derived from retinoblastoma cells enhance tumour deterioration by infiltrating the microenvironment. Oncol Rep. 2021;45(1):278–90.</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14.	</a:t>
            </a:r>
            <a:r>
              <a:rPr lang="zh-CN" altLang="en-US" sz="700">
                <a:latin typeface="Times New Roman Regular" panose="02020503050405090304"/>
                <a:ea typeface="宋体"/>
              </a:rPr>
              <a:t>张德翻</a:t>
            </a:r>
            <a:r>
              <a:rPr lang="en-US" altLang="zh-CN" sz="700">
                <a:latin typeface="Times New Roman Regular" panose="02020503050405090304"/>
                <a:ea typeface="宋体"/>
              </a:rPr>
              <a:t>, </a:t>
            </a:r>
            <a:r>
              <a:rPr lang="zh-CN" altLang="en-US" sz="700">
                <a:latin typeface="Times New Roman Regular" panose="02020503050405090304"/>
                <a:ea typeface="宋体"/>
              </a:rPr>
              <a:t>郑文龙</a:t>
            </a:r>
            <a:r>
              <a:rPr lang="en-US" altLang="zh-CN" sz="700">
                <a:latin typeface="Times New Roman Regular" panose="02020503050405090304"/>
                <a:ea typeface="宋体"/>
              </a:rPr>
              <a:t>, </a:t>
            </a:r>
            <a:r>
              <a:rPr lang="zh-CN" altLang="en-US" sz="700">
                <a:latin typeface="Times New Roman Regular" panose="02020503050405090304"/>
                <a:ea typeface="宋体"/>
              </a:rPr>
              <a:t>吴爱琴</a:t>
            </a:r>
            <a:r>
              <a:rPr lang="en-US" altLang="zh-CN" sz="700">
                <a:latin typeface="Times New Roman Regular" panose="02020503050405090304"/>
                <a:ea typeface="宋体"/>
              </a:rPr>
              <a:t>. </a:t>
            </a:r>
            <a:r>
              <a:rPr lang="zh-CN" altLang="en-US" sz="700">
                <a:latin typeface="Times New Roman Regular" panose="02020503050405090304"/>
                <a:ea typeface="宋体"/>
              </a:rPr>
              <a:t>视网膜母细胞瘤的</a:t>
            </a:r>
            <a:r>
              <a:rPr lang="en-US" altLang="zh-CN" sz="700">
                <a:latin typeface="Times New Roman Regular" panose="02020503050405090304"/>
                <a:ea typeface="宋体"/>
              </a:rPr>
              <a:t>CT</a:t>
            </a:r>
            <a:r>
              <a:rPr lang="zh-CN" altLang="en-US" sz="700">
                <a:latin typeface="Times New Roman Regular" panose="02020503050405090304"/>
                <a:ea typeface="宋体"/>
              </a:rPr>
              <a:t>与</a:t>
            </a:r>
            <a:r>
              <a:rPr lang="en-US" altLang="zh-CN" sz="700">
                <a:latin typeface="Times New Roman Regular" panose="02020503050405090304"/>
                <a:ea typeface="宋体"/>
              </a:rPr>
              <a:t>MRI</a:t>
            </a:r>
            <a:r>
              <a:rPr lang="zh-CN" altLang="en-US" sz="700">
                <a:latin typeface="Times New Roman Regular" panose="02020503050405090304"/>
                <a:ea typeface="宋体"/>
              </a:rPr>
              <a:t>诊断</a:t>
            </a:r>
            <a:r>
              <a:rPr lang="en-US" altLang="zh-CN" sz="700">
                <a:latin typeface="Times New Roman Regular" panose="02020503050405090304"/>
                <a:ea typeface="宋体"/>
              </a:rPr>
              <a:t>. </a:t>
            </a:r>
            <a:r>
              <a:rPr lang="zh-CN" altLang="en-US" sz="700">
                <a:latin typeface="Times New Roman Regular" panose="02020503050405090304"/>
                <a:ea typeface="宋体"/>
              </a:rPr>
              <a:t>医学影像学杂志</a:t>
            </a:r>
            <a:r>
              <a:rPr lang="en-US" altLang="zh-CN" sz="700">
                <a:latin typeface="Times New Roman Regular" panose="02020503050405090304"/>
                <a:ea typeface="宋体"/>
              </a:rPr>
              <a:t>. 2011;21(05):648–50.</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15.	Dimaras H, Corson TW, Cobrinik D, White A, Zhao J, Munier FL, et al. Retinoblastoma. Nat Rev Dis Primers. 2015;1:15021.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16.	Kaliki S, Taneja S, Palkonda VAR. INADVERTENT INTRAOCULAR SURGERY IN CHILDREN WITH UNSUSPECTED RETINOBLASTOMA: A Study of 14 Cases. Retina. 2019;39(9):1794–801.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17.	Bouchoucha Y, Matet A, Berger A, Carcaboso AM, Gerrish A, Moll A, et al. Retinoblastoma: From genes to patient care. Eur J Med Genet. 2023;66(1):104674.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18.	Haik GM, Jr., Haik KG. Differential diagnosis of retinoblastoma: salient clinical features and ancillary tests. J La State Med Soc. 1984;136(3):10–3.</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19.	Shields JA, Shields CL, Parsons HM. Differential diagnosis of retinoblastoma. Retina. 1991;11(2):232–43.</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20.	Iqbal S, Khan TM, Naveed K, Naqvi SS, Nawaz SJ. Recent trends and advances in fundus image analysis: A review. Comput Biol Med. 2022;151(Pt A):106277.</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21.	Begum T, Rahman A, Nomani D, Mamun A, Adams A, Islam S, et al. Diagnostic Accuracy of Detecting Diabetic Retinopathy by Using Digital Fundus Photographs in the Peripheral Health Facilities of Bangladesh: Validation Study. JMIR Public Health Surveill. 2021;7(3):e23538.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22.	Shekhawat NS, Niziol LM, Sharma SS, Joseph S, Robin AL, Gillespie BW, et al. The Utility of Routine Fundus Photography Screening for Posterior Segment Disease: A Stepped-wedge, Cluster-randomized Trial in South India. Ophthalmology. 2021;128(7):1060–9.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23.	Ram</a:t>
            </a:r>
            <a:r>
              <a:rPr lang="en-US" altLang="en-US" sz="700">
                <a:latin typeface="Times New Roman Regular" panose="02020503050405090304"/>
                <a:ea typeface="宋体"/>
              </a:rPr>
              <a:t>í</a:t>
            </a:r>
            <a:r>
              <a:rPr lang="en-US" altLang="zh-CN" sz="700">
                <a:latin typeface="Times New Roman Regular" panose="02020503050405090304"/>
                <a:ea typeface="宋体"/>
              </a:rPr>
              <a:t>rez-Ortiz MA, Lansingh VC, Eckert KA, Haik BG, Phillips BX, Bosch-Canto V, et al. Systematic review of the current status of programs and general knowledge of diagnosis and management of retinoblastoma. Bol Med Hosp Infant Mex. 2017;74(1):41–54.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24.	Wu Z, Xue R, Shao M. Knowledge graph analysis and visualization of AI technology applied in COVID-19. Environ Sci Pollut Res Int. 2022;29(18):26396–408.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25.	Bernard A, Xia SZ, Saleh S, Ndukwe T, Meyer J, Soloway E, et al. EyeScreen: Development and Potential of a Novel Machine Learning Application to Detect Leukocoria. Ophthalmol Sci. 2022;2(3):100158.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26.	</a:t>
            </a:r>
            <a:r>
              <a:rPr lang="zh-CN" altLang="en-US" sz="700">
                <a:latin typeface="Times New Roman Regular" panose="02020503050405090304"/>
                <a:ea typeface="宋体"/>
              </a:rPr>
              <a:t>袁路</a:t>
            </a:r>
            <a:r>
              <a:rPr lang="en-US" altLang="zh-CN" sz="700">
                <a:latin typeface="Times New Roman Regular" panose="02020503050405090304"/>
                <a:ea typeface="宋体"/>
              </a:rPr>
              <a:t>, </a:t>
            </a:r>
            <a:r>
              <a:rPr lang="zh-CN" altLang="en-US" sz="700">
                <a:latin typeface="Times New Roman Regular" panose="02020503050405090304"/>
                <a:ea typeface="宋体"/>
              </a:rPr>
              <a:t>杨卫华</a:t>
            </a:r>
            <a:r>
              <a:rPr lang="en-US" altLang="zh-CN" sz="700">
                <a:latin typeface="Times New Roman Regular" panose="02020503050405090304"/>
                <a:ea typeface="宋体"/>
              </a:rPr>
              <a:t>, </a:t>
            </a:r>
            <a:r>
              <a:rPr lang="zh-CN" altLang="en-US" sz="700">
                <a:latin typeface="Times New Roman Regular" panose="02020503050405090304"/>
                <a:ea typeface="宋体"/>
              </a:rPr>
              <a:t>陆斌</a:t>
            </a:r>
            <a:r>
              <a:rPr lang="en-US" altLang="zh-CN" sz="700">
                <a:latin typeface="Times New Roman Regular" panose="02020503050405090304"/>
                <a:ea typeface="宋体"/>
              </a:rPr>
              <a:t>. </a:t>
            </a:r>
            <a:r>
              <a:rPr lang="zh-CN" altLang="en-US" sz="700">
                <a:latin typeface="Times New Roman Regular" panose="02020503050405090304"/>
                <a:ea typeface="宋体"/>
              </a:rPr>
              <a:t>人工智能技术在视网膜母细胞瘤中的应用现状</a:t>
            </a:r>
            <a:r>
              <a:rPr lang="en-US" altLang="zh-CN" sz="700">
                <a:latin typeface="Times New Roman Regular" panose="02020503050405090304"/>
                <a:ea typeface="宋体"/>
              </a:rPr>
              <a:t>. </a:t>
            </a:r>
            <a:r>
              <a:rPr lang="zh-CN" altLang="en-US" sz="700">
                <a:latin typeface="Times New Roman Regular" panose="02020503050405090304"/>
                <a:ea typeface="宋体"/>
              </a:rPr>
              <a:t>国际眼科杂志</a:t>
            </a:r>
            <a:r>
              <a:rPr lang="en-US" altLang="zh-CN" sz="700">
                <a:latin typeface="Times New Roman Regular" panose="02020503050405090304"/>
                <a:ea typeface="宋体"/>
              </a:rPr>
              <a:t>. 2024;24(05):758–61.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27.	Jin K, Ye J. Artificial intelligence and deep learning in ophthalmology: Current status and future perspectives. Adv Ophthalmol Pract Res. 2022;2(3):100078.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28.	Lima RV, Arruda MP, Muniz MCR, Filho HNF, Ferrerira DMR, Pereira SM. Artificial intelligence methods in diagnosis of retinoblastoma based on fundus imaging: a systematic review and meta-analysis. Graefes Arch Clin Exp Ophthalmol. 2025;263(2):547–53.</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29.	Duraivenkatesh S, Narayan A, Srikanth V, Made AF. Retinoblastoma Detection via Image Processing and Interpretable Artificial Intelligence Techniques. medRxiv. 2023:2023.05.02.23289419.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30.	Zhang R, Dong L, Li R, Zhang K, Li Y, Zhao H, et al. Automatic retinoblastoma screening and surveillance using deep learning. Br J Cancer. 2023;129(3):466–74.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31.	Sahlsten J, Jaskari J, Kivinen J, Turunen L, Jaanio E, Hietala K, et al. Deep Learning Fundus Image Analysis for Diabetic Retinopathy and Macular Edema Grading. Sci Rep. 2019;9(1):10750.</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32.	Gencer G, Gencer K. Advanced retinal disease detection from OCT images using a hybrid squeeze and excitation enhanced model. PLoS One. 2025;20(2):e0318657.</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33.	Schwartz R, Khalid H, Liakopoulos S, Ouyang Y, de Vente C, Gonz</a:t>
            </a:r>
            <a:r>
              <a:rPr lang="en-US" altLang="en-US" sz="700">
                <a:latin typeface="Times New Roman Regular" panose="02020503050405090304"/>
                <a:ea typeface="宋体"/>
              </a:rPr>
              <a:t>á</a:t>
            </a:r>
            <a:r>
              <a:rPr lang="en-US" altLang="zh-CN" sz="700">
                <a:latin typeface="Times New Roman Regular" panose="02020503050405090304"/>
                <a:ea typeface="宋体"/>
              </a:rPr>
              <a:t>lez-Gonzalo C, et al. A Deep Learning Framework for the Detection and Quantification of Reticular Pseudodrusen and Drusen on Optical Coherence Tomography. Transl Vis Sci Technol. 2022;11(12):3.</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34.	Aldughayfiq B, Ashfaq F, Jhanjhi NZ, Humayun M. Explainable AI for Retinoblastoma Diagnosis: Interpreting Deep Learning Models with LIME and SHAP. Diagnostics (Basel). 2023;13(11).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35.	Du K, Nair AR, Shah S, Gadari A, Vupparaboina SC, Bollepalli SC, et al. Detection of Disease Features on Retinal OCT Scans Using RETFound. Bioengineering (Basel). 2024;11(12).</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36.	Septiarini A, Harjoko A, Pulungan R, Ekantini R. Automated Detection of Retinal Nerve Fiber Layer by Texture-Based Analysis for Glaucoma Evaluation. Healthc Inform Res. 2018;24(4):335–45.</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37.	Lee J, Zee BC, Li Q. Detection of neovascularization based on fractal and texture analysis with interaction effects in diabetic retinopathy. PLoS One. 2013;8(12):e75699.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38.	Ramola A, Shakya AK, Van Pham D. Study of statistical methods for texture analysis and their modern evolutions. Engineering Reports. 2020;2(4):e12149.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39.	Ojala T, Pietik</a:t>
            </a:r>
            <a:r>
              <a:rPr lang="en-US" altLang="en-US" sz="700">
                <a:latin typeface="Times New Roman Regular" panose="02020503050405090304"/>
                <a:ea typeface="宋体"/>
              </a:rPr>
              <a:t>Ä</a:t>
            </a:r>
            <a:r>
              <a:rPr lang="en-US" altLang="zh-CN" sz="700">
                <a:latin typeface="Times New Roman Regular" panose="02020503050405090304"/>
                <a:ea typeface="宋体"/>
              </a:rPr>
              <a:t>Inen M, Harwood D. A comparative study of texture measures with classification based on feature distributions. Pattern recognition. 1996;29(1):51–9.</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40.	Zhang Y, Liu Y-L, Nie K, Zhou J, Chen Z, Chen J-H, et al. Deep Learning-based Automatic Diagnosis of Breast Cancer on MRI Using Mask R-CNN for Detection Followed by ResNet50 for Classification. Academic radiology. 2023;30(Suppl 2):S161–S71.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41.	Lee J, Yoon JH, Lee E, Lee HY, Jeong S, Park S, et al. Immune response and mesenchymal transition of papillary thyroid carcinoma reflected in ultrasonography features assessed by radiologists and deep learning. Journal of advanced research. 2024;62:219–28.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42.	Chen H, Chang Y, Chen Y, Liu C, Zhu Z, Liu S, et al. Nondestructive testing of runny salted egg yolk based on improved ConvNeXt‐T. Journal of food science. 2024;89(6):3369–83.</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43.	Wang Z, Kuerban K, Zhou Z, Hailati M, Aihematiniyazi R, Wang X, et al. HCEs‐Net: Hepatic cystic echinococcosis classification ensemble model based on tree‐structured Parzen estimator and snap‐shot approach. Medical physics (Lancaster). 2023;50(7):4244–54.</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44.	Nahm FS. Receiver operating characteristic curve: overview and practical use for clinicians. Korean journal of anesthesiology. 2022;75(1):25–36.</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45.	</a:t>
            </a:r>
            <a:r>
              <a:rPr lang="zh-CN" altLang="en-US" sz="700">
                <a:latin typeface="Times New Roman Regular" panose="02020503050405090304"/>
                <a:ea typeface="宋体"/>
              </a:rPr>
              <a:t>黄新文</a:t>
            </a:r>
            <a:r>
              <a:rPr lang="en-US" altLang="zh-CN" sz="700">
                <a:latin typeface="Times New Roman Regular" panose="02020503050405090304"/>
                <a:ea typeface="宋体"/>
              </a:rPr>
              <a:t> </a:t>
            </a:r>
            <a:r>
              <a:rPr lang="zh-CN" altLang="en-US" sz="700">
                <a:latin typeface="Times New Roman Regular" panose="02020503050405090304"/>
                <a:ea typeface="宋体"/>
              </a:rPr>
              <a:t>吕红彬</a:t>
            </a:r>
            <a:r>
              <a:rPr lang="en-US" altLang="zh-CN" sz="700">
                <a:latin typeface="Times New Roman Regular" panose="02020503050405090304"/>
                <a:ea typeface="宋体"/>
              </a:rPr>
              <a:t> </a:t>
            </a:r>
            <a:r>
              <a:rPr lang="zh-CN" altLang="en-US" sz="700">
                <a:latin typeface="Times New Roman Regular" panose="02020503050405090304"/>
                <a:ea typeface="宋体"/>
              </a:rPr>
              <a:t>高礼明</a:t>
            </a:r>
            <a:r>
              <a:rPr lang="en-US" altLang="zh-CN" sz="700">
                <a:latin typeface="Times New Roman Regular" panose="02020503050405090304"/>
                <a:ea typeface="宋体"/>
              </a:rPr>
              <a:t> </a:t>
            </a:r>
            <a:r>
              <a:rPr lang="zh-CN" altLang="en-US" sz="700">
                <a:latin typeface="Times New Roman Regular" panose="02020503050405090304"/>
                <a:ea typeface="宋体"/>
              </a:rPr>
              <a:t>唐</a:t>
            </a:r>
            <a:r>
              <a:rPr lang="en-US" altLang="zh-CN" sz="700">
                <a:latin typeface="Times New Roman Regular" panose="02020503050405090304"/>
                <a:ea typeface="宋体"/>
              </a:rPr>
              <a:t>. </a:t>
            </a:r>
            <a:r>
              <a:rPr lang="zh-CN" altLang="en-US" sz="700">
                <a:latin typeface="Times New Roman Regular" panose="02020503050405090304"/>
                <a:ea typeface="宋体"/>
              </a:rPr>
              <a:t>外层渗出性视网膜病变的</a:t>
            </a:r>
            <a:r>
              <a:rPr lang="en-US" altLang="zh-CN" sz="700">
                <a:latin typeface="Times New Roman Regular" panose="02020503050405090304"/>
                <a:ea typeface="宋体"/>
              </a:rPr>
              <a:t>CT</a:t>
            </a:r>
            <a:r>
              <a:rPr lang="zh-CN" altLang="en-US" sz="700">
                <a:latin typeface="Times New Roman Regular" panose="02020503050405090304"/>
                <a:ea typeface="宋体"/>
              </a:rPr>
              <a:t>诊断价值</a:t>
            </a:r>
            <a:r>
              <a:rPr lang="en-US" altLang="zh-CN" sz="700">
                <a:latin typeface="Times New Roman Regular" panose="02020503050405090304"/>
                <a:ea typeface="宋体"/>
              </a:rPr>
              <a:t>. Lin chuang fang she xue za zhi. 2008;27(8):1020–2.</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46.	Khurana A, Eisenhut CA, Wan W, Ebrahimi KB, Patel C, O’Brien JM, et al. Comparison of the diagnostic value of MR imaging and ophthalmoscopy for the staging of retinoblastoma. European radiology. 2013;23(5):1271–80.</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47.	</a:t>
            </a:r>
            <a:r>
              <a:rPr lang="zh-CN" altLang="en-US" sz="700">
                <a:latin typeface="Times New Roman Regular" panose="02020503050405090304"/>
                <a:ea typeface="宋体"/>
              </a:rPr>
              <a:t>张承芬</a:t>
            </a:r>
            <a:r>
              <a:rPr lang="en-US" altLang="zh-CN" sz="700">
                <a:latin typeface="Times New Roman Regular" panose="02020503050405090304"/>
                <a:ea typeface="宋体"/>
              </a:rPr>
              <a:t>,</a:t>
            </a:r>
            <a:r>
              <a:rPr lang="zh-CN" altLang="en-US" sz="700">
                <a:latin typeface="Times New Roman Regular" panose="02020503050405090304"/>
                <a:ea typeface="宋体"/>
              </a:rPr>
              <a:t>眼底医学</a:t>
            </a:r>
            <a:r>
              <a:rPr lang="en-US" altLang="zh-CN" sz="700">
                <a:latin typeface="Times New Roman Regular" panose="02020503050405090304"/>
                <a:ea typeface="宋体"/>
              </a:rPr>
              <a:t>(</a:t>
            </a:r>
            <a:r>
              <a:rPr lang="zh-CN" altLang="en-US" sz="700">
                <a:latin typeface="Times New Roman Regular" panose="02020503050405090304"/>
                <a:ea typeface="宋体"/>
              </a:rPr>
              <a:t>第二版</a:t>
            </a:r>
            <a:r>
              <a:rPr lang="en-US" altLang="zh-CN" sz="700">
                <a:latin typeface="Times New Roman Regular" panose="02020503050405090304"/>
                <a:ea typeface="宋体"/>
              </a:rPr>
              <a:t>). </a:t>
            </a:r>
            <a:r>
              <a:rPr lang="zh-CN" altLang="en-US" sz="700">
                <a:latin typeface="Times New Roman Regular" panose="02020503050405090304"/>
                <a:ea typeface="宋体"/>
              </a:rPr>
              <a:t>第十次全省中、西医眼科学术交流会暨吉安地区眼科专委会成立会议</a:t>
            </a:r>
            <a:r>
              <a:rPr lang="en-US" altLang="zh-CN" sz="700">
                <a:latin typeface="Times New Roman Regular" panose="02020503050405090304"/>
                <a:ea typeface="宋体"/>
              </a:rPr>
              <a:t>; 2010; </a:t>
            </a:r>
            <a:r>
              <a:rPr lang="zh-CN" altLang="en-US" sz="700">
                <a:latin typeface="Times New Roman Regular" panose="02020503050405090304"/>
                <a:ea typeface="宋体"/>
              </a:rPr>
              <a:t>中国江西吉安</a:t>
            </a:r>
            <a:r>
              <a:rPr lang="en-US" altLang="zh-CN" sz="700">
                <a:latin typeface="Times New Roman Regular" panose="02020503050405090304"/>
                <a:ea typeface="宋体"/>
              </a:rPr>
              <a:t>.</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48.	Haralick RM, Shanmugam K, Dinstein IH. Textural Features for Image Classification. IEEE transactions on systems, man, and cybernetics. 1973;SMC-3(6):610–21.</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49.	</a:t>
            </a:r>
            <a:r>
              <a:rPr lang="zh-CN" altLang="en-US" sz="700">
                <a:latin typeface="Times New Roman Regular" panose="02020503050405090304"/>
                <a:ea typeface="宋体"/>
              </a:rPr>
              <a:t>金浩</a:t>
            </a:r>
            <a:r>
              <a:rPr lang="en-US" altLang="zh-CN" sz="700">
                <a:latin typeface="Times New Roman Regular" panose="02020503050405090304"/>
                <a:ea typeface="宋体"/>
              </a:rPr>
              <a:t>. </a:t>
            </a:r>
            <a:r>
              <a:rPr lang="zh-CN" altLang="en-US" sz="700">
                <a:latin typeface="Times New Roman Regular" panose="02020503050405090304"/>
                <a:ea typeface="宋体"/>
              </a:rPr>
              <a:t>探究多模态影像特征与纹理分析对于眼眶良恶性肿瘤鉴别诊断的价值</a:t>
            </a:r>
            <a:r>
              <a:rPr lang="en-US" altLang="zh-CN" sz="700">
                <a:latin typeface="Times New Roman Regular" panose="02020503050405090304"/>
                <a:ea typeface="宋体"/>
              </a:rPr>
              <a:t> [</a:t>
            </a:r>
            <a:r>
              <a:rPr lang="zh-CN" altLang="en-US" sz="700">
                <a:latin typeface="Times New Roman Regular" panose="02020503050405090304"/>
                <a:ea typeface="宋体"/>
              </a:rPr>
              <a:t>硕士</a:t>
            </a:r>
            <a:r>
              <a:rPr lang="en-US" altLang="zh-CN" sz="700">
                <a:latin typeface="Times New Roman Regular" panose="02020503050405090304"/>
                <a:ea typeface="宋体"/>
              </a:rPr>
              <a:t>]: </a:t>
            </a:r>
            <a:r>
              <a:rPr lang="zh-CN" altLang="en-US" sz="700">
                <a:latin typeface="Times New Roman Regular" panose="02020503050405090304"/>
                <a:ea typeface="宋体"/>
              </a:rPr>
              <a:t>锦州医科大学</a:t>
            </a:r>
            <a:r>
              <a:rPr lang="en-US" altLang="zh-CN" sz="700">
                <a:latin typeface="Times New Roman Regular" panose="02020503050405090304"/>
                <a:ea typeface="宋体"/>
              </a:rPr>
              <a:t>; 2025.</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50.	Bou Assi E, Gagliano L, Rihana S, Nguyen DK, Sawan M. Bispectrum Features and Multilayer Perceptron Classifier to Enhance Seizure Prediction. Scientific reports. 2018;8(1):15491–8.</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51.	Maltsev DS, Kulikov AN, Shaimova VA, Burnasheva MA, Vasiliev AS. Spotlight on Lattice Degeneration Imaging Techniques. Clinical ophthalmology (Auckland, NZ). 2023;17:2383–95.</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52.	Midena E, Marchione G, Di Giorgio S, Rotondi G, Longhin E, Frizziero L, et al. Ultra-wide-field fundus photography compared to ophthalmoscopy in diagnosing and classifying major retinal diseases. Scientific reports. 2022;12(1):19287–7.</a:t>
            </a:r>
            <a:endParaRPr lang="en-US" altLang="zh-CN" sz="700">
              <a:latin typeface="Times New Roman Regular" panose="02020503050405090304"/>
              <a:ea typeface="宋体"/>
            </a:endParaRPr>
          </a:p>
          <a:p>
            <a:pPr marL="0" indent="0" algn="just" defTabSz="266700">
              <a:spcBef>
                <a:spcPct val="0"/>
              </a:spcBef>
              <a:spcAft>
                <a:spcPct val="0"/>
              </a:spcAft>
            </a:pPr>
            <a:r>
              <a:rPr lang="en-US" altLang="zh-CN" sz="700">
                <a:latin typeface="Times New Roman Regular" panose="02020503050405090304"/>
                <a:ea typeface="宋体"/>
              </a:rPr>
              <a:t>53.	Callaway NF, Mruthyunjaya P. Widefield imaging of retinal and choroidal tumors. International journal of retina and vitreous. 2019;5(Suppl 1):49–10.</a:t>
            </a:r>
            <a:endParaRPr lang="en-US" altLang="zh-CN" sz="700">
              <a:latin typeface="Times New Roman Regular" panose="02020503050405090304"/>
              <a:ea typeface="宋体"/>
            </a:endParaRPr>
          </a:p>
          <a:p>
            <a:pPr marL="0" indent="0" algn="just" defTabSz="266700">
              <a:spcBef>
                <a:spcPct val="0"/>
              </a:spcBef>
              <a:spcAft>
                <a:spcPct val="0"/>
              </a:spcAft>
            </a:pPr>
            <a:endParaRPr lang="en-US" altLang="zh-CN" sz="700">
              <a:latin typeface="Times New Roman Regular" panose="02020503050405090304"/>
              <a:ea typeface="宋体"/>
            </a:endParaRPr>
          </a:p>
          <a:p>
            <a:pPr marL="0" indent="0" algn="just" defTabSz="266700">
              <a:spcBef>
                <a:spcPct val="0"/>
              </a:spcBef>
              <a:spcAft>
                <a:spcPct val="0"/>
              </a:spcAft>
            </a:pPr>
            <a:endParaRPr lang="en-US" altLang="zh-CN" sz="700">
              <a:latin typeface="Times New Roman Regular" panose="02020503050405090304"/>
              <a:ea typeface="宋体"/>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dirty="0"/>
              <a:t>Questions &amp; Feedback</a:t>
            </a:r>
            <a:endParaRPr lang="en-US" altLang="zh-CN" sz="4000" dirty="0"/>
          </a:p>
        </p:txBody>
      </p:sp>
      <p:sp>
        <p:nvSpPr>
          <p:cNvPr id="3" name="Content Placeholder 2"/>
          <p:cNvSpPr>
            <a:spLocks noGrp="1"/>
          </p:cNvSpPr>
          <p:nvPr>
            <p:ph sz="quarter" idx="12"/>
          </p:nvPr>
        </p:nvSpPr>
        <p:spPr>
          <a:xfrm>
            <a:off x="508000" y="2310303"/>
            <a:ext cx="11176000" cy="4412443"/>
          </a:xfrm>
        </p:spPr>
        <p:txBody>
          <a:bodyPr>
            <a:noAutofit/>
          </a:bodyPr>
          <a:lstStyle/>
          <a:p>
            <a:pPr marL="0" indent="0" algn="ctr">
              <a:lnSpc>
                <a:spcPct val="60000"/>
              </a:lnSpc>
              <a:buNone/>
            </a:pPr>
            <a:r>
              <a:rPr lang="en-US" altLang="zh-CN" sz="2800" b="1" dirty="0">
                <a:latin typeface="+mj-lt"/>
                <a:cs typeface="+mj-lt"/>
              </a:rPr>
              <a:t>Thank you for your attention!</a:t>
            </a:r>
            <a:endParaRPr lang="en-US" altLang="zh-CN" sz="2800" b="1" dirty="0">
              <a:latin typeface="+mj-lt"/>
              <a:cs typeface="+mj-lt"/>
            </a:endParaRPr>
          </a:p>
          <a:p>
            <a:pPr algn="ctr">
              <a:lnSpc>
                <a:spcPct val="60000"/>
              </a:lnSpc>
            </a:pPr>
            <a:endParaRPr lang="en-US" altLang="zh-CN" sz="2800" b="1" dirty="0">
              <a:latin typeface="+mj-lt"/>
              <a:cs typeface="+mj-lt"/>
            </a:endParaRPr>
          </a:p>
          <a:p>
            <a:pPr marL="0" indent="0" algn="ctr">
              <a:lnSpc>
                <a:spcPct val="60000"/>
              </a:lnSpc>
              <a:buNone/>
            </a:pPr>
            <a:r>
              <a:rPr lang="en-US" altLang="zh-CN" sz="2800" b="1" dirty="0">
                <a:latin typeface="+mj-lt"/>
                <a:cs typeface="+mj-lt"/>
              </a:rPr>
              <a:t>I welcome your questions and feedback.</a:t>
            </a:r>
            <a:endParaRPr lang="en-US" altLang="zh-CN" sz="2800" b="1" dirty="0">
              <a:latin typeface="+mj-lt"/>
              <a:cs typeface="+mj-lt"/>
            </a:endParaRPr>
          </a:p>
          <a:p>
            <a:pPr algn="ctr">
              <a:lnSpc>
                <a:spcPct val="60000"/>
              </a:lnSpc>
            </a:pPr>
            <a:endParaRPr lang="en-US" altLang="zh-CN" sz="2800" b="1" dirty="0">
              <a:latin typeface="+mj-lt"/>
              <a:cs typeface="+mj-lt"/>
            </a:endParaRPr>
          </a:p>
          <a:p>
            <a:pPr marL="0" indent="0" algn="ctr">
              <a:lnSpc>
                <a:spcPct val="60000"/>
              </a:lnSpc>
              <a:buNone/>
            </a:pPr>
            <a:r>
              <a:rPr lang="en-US" altLang="zh-CN" sz="2800" b="1" dirty="0">
                <a:latin typeface="+mj-lt"/>
                <a:cs typeface="+mj-lt"/>
              </a:rPr>
              <a:t>email: [1155239361@link.cuhk.edu.hk]</a:t>
            </a:r>
            <a:endParaRPr lang="en-US" altLang="zh-CN" sz="2800" b="1" dirty="0">
              <a:latin typeface="+mj-lt"/>
              <a:cs typeface="+mj-lt"/>
            </a:endParaRPr>
          </a:p>
        </p:txBody>
      </p:sp>
      <p:sp>
        <p:nvSpPr>
          <p:cNvPr id="4" name="灯片编号占位符 3"/>
          <p:cNvSpPr>
            <a:spLocks noGrp="1"/>
          </p:cNvSpPr>
          <p:nvPr>
            <p:ph type="sldNum" sz="quarter" idx="13"/>
          </p:nvPr>
        </p:nvSpPr>
        <p:spPr/>
        <p:txBody>
          <a:bodyPr/>
          <a:lstStyle/>
          <a:p>
            <a:fld id="{EB08E37E-5A7D-4575-BB85-0B57CCBFF9C8}" type="slidenum">
              <a:rPr lang="en-US" smtClean="0"/>
            </a:fld>
            <a:endParaRPr lang="en-US"/>
          </a:p>
        </p:txBody>
      </p:sp>
    </p:spTree>
  </p:cSld>
  <p:clrMapOvr>
    <a:masterClrMapping/>
  </p:clrMapOvr>
  <p:transition/>
</p:sld>
</file>

<file path=ppt/tags/tag1.xml><?xml version="1.0" encoding="utf-8"?>
<p:tagLst xmlns:p="http://schemas.openxmlformats.org/presentationml/2006/main">
  <p:tag name="TABLE_ENDDRAG_ORIGIN_RECT" val="795*317"/>
  <p:tag name="TABLE_ENDDRAG_RECT" val="82*222*795*317"/>
</p:tagLst>
</file>

<file path=ppt/theme/theme1.xml><?xml version="1.0" encoding="utf-8"?>
<a:theme xmlns:a="http://schemas.openxmlformats.org/drawingml/2006/main" name="CU Medic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 Medicine</Template>
  <TotalTime>0</TotalTime>
  <Words>18358</Words>
  <Application>WPS 表格</Application>
  <PresentationFormat>Widescreen</PresentationFormat>
  <Paragraphs>328</Paragraphs>
  <Slides>20</Slides>
  <Notes>0</Notes>
  <HiddenSlides>0</HiddenSlides>
  <MMClips>0</MMClips>
  <ScaleCrop>false</ScaleCrop>
  <HeadingPairs>
    <vt:vector size="6" baseType="variant">
      <vt:variant>
        <vt:lpstr>已用的字体</vt:lpstr>
      </vt:variant>
      <vt:variant>
        <vt:i4>43</vt:i4>
      </vt:variant>
      <vt:variant>
        <vt:lpstr>主题</vt:lpstr>
      </vt:variant>
      <vt:variant>
        <vt:i4>1</vt:i4>
      </vt:variant>
      <vt:variant>
        <vt:lpstr>幻灯片标题</vt:lpstr>
      </vt:variant>
      <vt:variant>
        <vt:i4>20</vt:i4>
      </vt:variant>
    </vt:vector>
  </HeadingPairs>
  <TitlesOfParts>
    <vt:vector size="64" baseType="lpstr">
      <vt:lpstr>Arial</vt:lpstr>
      <vt:lpstr>宋体</vt:lpstr>
      <vt:lpstr>Wingdings</vt:lpstr>
      <vt:lpstr>Helvetica</vt:lpstr>
      <vt:lpstr>Helvetica</vt:lpstr>
      <vt:lpstr>quote-cjk-patch</vt:lpstr>
      <vt:lpstr>Thonburi</vt:lpstr>
      <vt:lpstr>-apple-system</vt:lpstr>
      <vt:lpstr>Arial</vt:lpstr>
      <vt:lpstr>Calibri</vt:lpstr>
      <vt:lpstr>Helvetica Neue</vt:lpstr>
      <vt:lpstr>微软雅黑</vt:lpstr>
      <vt:lpstr>汉仪旗黑</vt:lpstr>
      <vt:lpstr>宋体</vt:lpstr>
      <vt:lpstr>Arial Unicode MS</vt:lpstr>
      <vt:lpstr>等线</vt:lpstr>
      <vt:lpstr>汉仪中等线KW</vt:lpstr>
      <vt:lpstr>Times New Roman Bold</vt:lpstr>
      <vt:lpstr>Times New Roman Regular</vt:lpstr>
      <vt:lpstr>Times New Roman</vt:lpstr>
      <vt:lpstr>汉仪书宋二KW</vt:lpstr>
      <vt:lpstr>Times New Roman Regular</vt:lpstr>
      <vt:lpstr>宋体</vt:lpstr>
      <vt:lpstr>PMingLiU</vt:lpstr>
      <vt:lpstr>宋体-繁</vt:lpstr>
      <vt:lpstr>-apple-system</vt:lpstr>
      <vt:lpstr>Times New Roman</vt:lpstr>
      <vt:lpstr>quote-cjk-patch</vt:lpstr>
      <vt:lpstr>苹方-简</vt:lpstr>
      <vt:lpstr>Gurmukhi MN Regular</vt:lpstr>
      <vt:lpstr>Apple Color Emoji</vt:lpstr>
      <vt:lpstr>PingFang SC Regular</vt:lpstr>
      <vt:lpstr>PingFang HK Regular</vt:lpstr>
      <vt:lpstr>Gurmukhi Sangam MN Regular</vt:lpstr>
      <vt:lpstr>蘋果儷中黑</vt:lpstr>
      <vt:lpstr>Gujarati Sangam MN Regular</vt:lpstr>
      <vt:lpstr>Gurmukhi MT</vt:lpstr>
      <vt:lpstr>儷宋 Pro</vt:lpstr>
      <vt:lpstr>汉仪楷体简</vt:lpstr>
      <vt:lpstr>Hiragino Sans GB W3</vt:lpstr>
      <vt:lpstr>Helvetica Regular</vt:lpstr>
      <vt:lpstr>Hiragino Kaku Gothic ProN W3</vt:lpstr>
      <vt:lpstr>Helvetica Bold</vt:lpstr>
      <vt:lpstr>CU Medicine</vt:lpstr>
      <vt:lpstr>Texture Analysis for Retinoblastoma Classification Using Ultra-wide-field Retinal Fundus Images  Student: He Shengya Student ID: 1155239361 Supervisor: Dr.Jack Lee Date:  Feb,24</vt:lpstr>
      <vt:lpstr> Outline</vt:lpstr>
      <vt:lpstr>The Critical Challenge of Retinoblastoma (RB)  </vt:lpstr>
      <vt:lpstr>Current Diagnostic Methods – Trade-offs</vt:lpstr>
      <vt:lpstr>Fundus Photography &amp; AI </vt:lpstr>
      <vt:lpstr> CNN vs LR</vt:lpstr>
      <vt:lpstr>My Solution – Texture Analysis &amp; LR</vt:lpstr>
      <vt:lpstr> Intrested texture Method– Local binary pattern</vt:lpstr>
      <vt:lpstr>Research Question &amp; Objectives &amp; Hypothesis</vt:lpstr>
      <vt:lpstr>Study Design</vt:lpstr>
      <vt:lpstr>Image collection &amp; Annotation &amp; Quality Control</vt:lpstr>
      <vt:lpstr> Methodology – Feature Extraction</vt:lpstr>
      <vt:lpstr>Methodology – Feature Selection &amp; Model Building</vt:lpstr>
      <vt:lpstr>Methodology – Validation &amp; Performance Comparison</vt:lpstr>
      <vt:lpstr>Result</vt:lpstr>
      <vt:lpstr>Discussion</vt:lpstr>
      <vt:lpstr>Discussion</vt:lpstr>
      <vt:lpstr>Discussion</vt:lpstr>
      <vt:lpstr>Reference</vt:lpstr>
      <vt:lpstr>Questions &amp; Feedback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BIOS 5002 Linear Models Introduction to data analysis and study design</dc:title>
  <dc:creator>Marc Chong</dc:creator>
  <cp:lastModifiedBy>ShengYa.</cp:lastModifiedBy>
  <cp:revision>372</cp:revision>
  <cp:lastPrinted>2026-06-10T02:39:15Z</cp:lastPrinted>
  <dcterms:created xsi:type="dcterms:W3CDTF">2026-06-10T02:39:15Z</dcterms:created>
  <dcterms:modified xsi:type="dcterms:W3CDTF">2026-06-10T02:39:15Z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79F269146FAF9DF8BDC8286AEADFE379_43</vt:lpwstr>
  </property>
  <property fmtid="{D5CDD505-2E9C-101B-9397-08002B2CF9AE}" pid="3" name="KSOProductBuildVer">
    <vt:lpwstr>2052-12.1.21861.21861</vt:lpwstr>
  </property>
</Properties>
</file>